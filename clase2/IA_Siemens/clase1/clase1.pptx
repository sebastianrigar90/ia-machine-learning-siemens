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4" r:id="rId3"/>
    <p:sldId id="258" r:id="rId4"/>
    <p:sldId id="331" r:id="rId5"/>
    <p:sldId id="333" r:id="rId6"/>
    <p:sldId id="334" r:id="rId7"/>
    <p:sldId id="335" r:id="rId8"/>
    <p:sldId id="332" r:id="rId9"/>
    <p:sldId id="259" r:id="rId10"/>
    <p:sldId id="337" r:id="rId11"/>
    <p:sldId id="338" r:id="rId12"/>
    <p:sldId id="339" r:id="rId13"/>
    <p:sldId id="340" r:id="rId14"/>
    <p:sldId id="341" r:id="rId15"/>
    <p:sldId id="342" r:id="rId16"/>
    <p:sldId id="286" r:id="rId17"/>
    <p:sldId id="292" r:id="rId18"/>
    <p:sldId id="345" r:id="rId19"/>
    <p:sldId id="346" r:id="rId20"/>
    <p:sldId id="264" r:id="rId21"/>
    <p:sldId id="347" r:id="rId22"/>
    <p:sldId id="348" r:id="rId23"/>
    <p:sldId id="349" r:id="rId24"/>
    <p:sldId id="354" r:id="rId25"/>
    <p:sldId id="350" r:id="rId26"/>
    <p:sldId id="351" r:id="rId27"/>
    <p:sldId id="355" r:id="rId28"/>
    <p:sldId id="352" r:id="rId29"/>
    <p:sldId id="353" r:id="rId30"/>
    <p:sldId id="356" r:id="rId31"/>
    <p:sldId id="305" r:id="rId32"/>
    <p:sldId id="306" r:id="rId33"/>
    <p:sldId id="307" r:id="rId34"/>
    <p:sldId id="357" r:id="rId35"/>
    <p:sldId id="358" r:id="rId36"/>
    <p:sldId id="359" r:id="rId37"/>
    <p:sldId id="367" r:id="rId38"/>
    <p:sldId id="361" r:id="rId39"/>
    <p:sldId id="363" r:id="rId40"/>
    <p:sldId id="362" r:id="rId41"/>
    <p:sldId id="364" r:id="rId42"/>
    <p:sldId id="366" r:id="rId43"/>
    <p:sldId id="322" r:id="rId44"/>
    <p:sldId id="325" r:id="rId45"/>
    <p:sldId id="326" r:id="rId46"/>
    <p:sldId id="329" r:id="rId47"/>
    <p:sldId id="327" r:id="rId48"/>
    <p:sldId id="330" r:id="rId49"/>
    <p:sldId id="328" r:id="rId50"/>
    <p:sldId id="369" r:id="rId51"/>
    <p:sldId id="336" r:id="rId52"/>
    <p:sldId id="344" r:id="rId53"/>
    <p:sldId id="368" r:id="rId54"/>
    <p:sldId id="276" r:id="rId55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60"/>
  </p:normalViewPr>
  <p:slideViewPr>
    <p:cSldViewPr snapToGrid="0">
      <p:cViewPr>
        <p:scale>
          <a:sx n="40" d="100"/>
          <a:sy n="40" d="100"/>
        </p:scale>
        <p:origin x="2573" y="119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pricing/purchase-options/azure-account?msockid=123809793b77613e02521f803a076026&amp;utm_source=chatgpt.com" TargetMode="External"/><Relationship Id="rId2" Type="http://schemas.openxmlformats.org/officeDocument/2006/relationships/hyperlink" Target="https://support.microsoft.com/es-es/accounts-billing/manage/how-to-create-a-new-microsoft-account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azure.com/?utm_source=chatgpt.co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MicrosoftDocs/ml-basics/refs/heads/master/data/diabetes.csv" TargetMode="Externa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94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20273" y="1558715"/>
            <a:ext cx="15863552" cy="61702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Inteligencia Artificial y Machine </a:t>
            </a:r>
            <a:r>
              <a:rPr lang="es-MX" sz="8000" b="1" spc="-340" dirty="0" err="1">
                <a:solidFill>
                  <a:srgbClr val="FFFFFF"/>
                </a:solidFill>
                <a:latin typeface="+mj-lt"/>
                <a:cs typeface="Arial"/>
              </a:rPr>
              <a:t>Learning</a:t>
            </a: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 Aplicados a la Manufactura de Transformadores Eléctricos: De los Fundamentos a la Implementación de Valor</a:t>
            </a:r>
            <a:endParaRPr sz="8000" dirty="0">
              <a:latin typeface="+mj-lt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4482" y="2686715"/>
            <a:ext cx="15246171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¿Cuál de estas afirmaciones te representa mejor?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8181" y="5654675"/>
            <a:ext cx="10035683" cy="22326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s-MX" dirty="0"/>
              <a:t>🟢 </a:t>
            </a:r>
            <a:r>
              <a:rPr lang="es-MX" b="1" dirty="0"/>
              <a:t>Verde</a:t>
            </a:r>
            <a:br>
              <a:rPr lang="es-MX" dirty="0"/>
            </a:br>
            <a:r>
              <a:rPr lang="es-MX" dirty="0"/>
              <a:t>"Podría explicarle a alguien qué es Machine </a:t>
            </a:r>
            <a:r>
              <a:rPr lang="es-MX" dirty="0" err="1"/>
              <a:t>Learning</a:t>
            </a:r>
            <a:r>
              <a:rPr lang="es-MX" dirty="0"/>
              <a:t> con mis propias palabras."</a:t>
            </a:r>
          </a:p>
          <a:p>
            <a:r>
              <a:rPr lang="es-MX" dirty="0"/>
              <a:t>🟡 </a:t>
            </a:r>
            <a:r>
              <a:rPr lang="es-MX" b="1" dirty="0"/>
              <a:t>Amarillo</a:t>
            </a:r>
            <a:br>
              <a:rPr lang="es-MX" dirty="0"/>
            </a:br>
            <a:r>
              <a:rPr lang="es-MX" dirty="0"/>
              <a:t>"He escuchado sobre IA y Machine </a:t>
            </a:r>
            <a:r>
              <a:rPr lang="es-MX" dirty="0" err="1"/>
              <a:t>Learning</a:t>
            </a:r>
            <a:r>
              <a:rPr lang="es-MX" dirty="0"/>
              <a:t>, pero nunca he desarrollado un modelo."</a:t>
            </a:r>
          </a:p>
          <a:p>
            <a:r>
              <a:rPr lang="es-MX" dirty="0"/>
              <a:t>🔴 </a:t>
            </a:r>
            <a:r>
              <a:rPr lang="es-MX" b="1" dirty="0"/>
              <a:t>Rojo</a:t>
            </a:r>
            <a:br>
              <a:rPr lang="es-MX" dirty="0"/>
            </a:br>
            <a:r>
              <a:rPr lang="es-MX" dirty="0"/>
              <a:t>"Todo esto es nuevo para mí.“</a:t>
            </a:r>
          </a:p>
          <a:p>
            <a:endParaRPr lang="es-MX" dirty="0"/>
          </a:p>
          <a:p>
            <a:r>
              <a:rPr lang="es-MX" b="1" dirty="0"/>
              <a:t>→ Levanta la mano según tu respuesta.</a:t>
            </a:r>
            <a:endParaRPr lang="es-MX" dirty="0"/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1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3169" y="2482777"/>
            <a:ext cx="12995238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¿Dónde ves Machine </a:t>
            </a: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Learning</a:t>
            </a: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 en tu vida?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3692" y="5654675"/>
            <a:ext cx="16514191" cy="250966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s-MX" dirty="0"/>
              <a:t>El Machine </a:t>
            </a:r>
            <a:r>
              <a:rPr lang="es-MX" dirty="0" err="1"/>
              <a:t>Learning</a:t>
            </a:r>
            <a:r>
              <a:rPr lang="es-MX" dirty="0"/>
              <a:t> está presente en muchas de las aplicaciones que utilizamos todos los días, incluso cuando no somos conscientes de ello. Recomendaciones de contenido, asistentes virtuales, navegación, reconocimiento facial y publicidad personalizada son solo algunos ejemplos.</a:t>
            </a:r>
          </a:p>
          <a:p>
            <a:endParaRPr lang="es-MX" dirty="0"/>
          </a:p>
          <a:p>
            <a:r>
              <a:rPr lang="es-MX" b="1" dirty="0"/>
              <a:t>Conversemos durante 3 minutos: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¿Qué aplicación basada en IA o Machine </a:t>
            </a:r>
            <a:r>
              <a:rPr lang="es-MX" dirty="0" err="1"/>
              <a:t>Learning</a:t>
            </a:r>
            <a:r>
              <a:rPr lang="es-MX" dirty="0"/>
              <a:t> utilizas con mayor frecuencia?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¿Qué hace esa aplicación que consideras "inteligente"?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¿Qué datos crees que utiliza para tomar esas decisiones?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Menciona un ejemplo donde el Machine </a:t>
            </a:r>
            <a:r>
              <a:rPr lang="es-MX" dirty="0" err="1"/>
              <a:t>Learning</a:t>
            </a:r>
            <a:r>
              <a:rPr lang="es-MX" dirty="0"/>
              <a:t> haya sido útil para ti.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Menciona un ejemplo donde hayas sentido que fue invasivo, incorrecto o poco útil.</a:t>
            </a:r>
            <a:endParaRPr lang="es-CO" dirty="0">
              <a:cs typeface="Arial" panose="020B0604020202020204" pitchFamily="34" charset="0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5937" y="2482777"/>
            <a:ext cx="1579222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¿Cómo aprende un modelo de Machine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Learning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?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D0FD6B04-C3B0-7169-7ECC-625FD1035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38495"/>
              </p:ext>
            </p:extLst>
          </p:nvPr>
        </p:nvGraphicFramePr>
        <p:xfrm>
          <a:off x="1346512" y="7468235"/>
          <a:ext cx="16500424" cy="3068812"/>
        </p:xfrm>
        <a:graphic>
          <a:graphicData uri="http://schemas.openxmlformats.org/drawingml/2006/table">
            <a:tbl>
              <a:tblPr/>
              <a:tblGrid>
                <a:gridCol w="1693097">
                  <a:extLst>
                    <a:ext uri="{9D8B030D-6E8A-4147-A177-3AD203B41FA5}">
                      <a16:colId xmlns:a16="http://schemas.microsoft.com/office/drawing/2014/main" val="3991705252"/>
                    </a:ext>
                  </a:extLst>
                </a:gridCol>
                <a:gridCol w="14807327">
                  <a:extLst>
                    <a:ext uri="{9D8B030D-6E8A-4147-A177-3AD203B41FA5}">
                      <a16:colId xmlns:a16="http://schemas.microsoft.com/office/drawing/2014/main" val="4085932563"/>
                    </a:ext>
                  </a:extLst>
                </a:gridCol>
              </a:tblGrid>
              <a:tr h="727438">
                <a:tc>
                  <a:txBody>
                    <a:bodyPr/>
                    <a:lstStyle/>
                    <a:p>
                      <a:endParaRPr lang="es-CO" sz="1800" dirty="0">
                        <a:latin typeface="+mn-lt"/>
                      </a:endParaRPr>
                    </a:p>
                    <a:p>
                      <a:endParaRPr lang="es-CO" sz="1800" dirty="0">
                        <a:latin typeface="+mn-lt"/>
                      </a:endParaRPr>
                    </a:p>
                    <a:p>
                      <a:r>
                        <a:rPr lang="es-CO" sz="1800" dirty="0">
                          <a:latin typeface="+mn-lt"/>
                        </a:rPr>
                        <a:t>Etapa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¿Qué ocurre?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968914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Datos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Se recopila información histórica sobre el problema.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036090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Preparación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Se limpian los datos, se manejan valores faltantes, se transforman variables y, cuando es necesario, se normalizan.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300433"/>
                  </a:ext>
                </a:extLst>
              </a:tr>
              <a:tr h="509207"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+mn-lt"/>
                        </a:rPr>
                        <a:t>Entrenamiento</a:t>
                      </a:r>
                      <a:endParaRPr lang="es-CO" sz="18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latin typeface="+mn-lt"/>
                        </a:rPr>
                        <a:t>El algoritmo aprende patrones a partir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366883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+mn-lt"/>
                        </a:rPr>
                        <a:t>Evaluación</a:t>
                      </a:r>
                      <a:endParaRPr lang="es-CO" sz="18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latin typeface="+mn-lt"/>
                        </a:rPr>
                        <a:t>Se verifica qué tan bien funciona con datos que nunca ha visto.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47974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Predicción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El modelo se utiliza para apoyar decisiones sobre nuevos casos.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21649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76817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6698153-220F-5DC9-E1DD-DC7696E4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512" y="4247578"/>
            <a:ext cx="1738211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Todo modelo sigue un proceso muy similar para convertir datos en decisiones.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Datos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Preparación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Entrenamiento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Evaluación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Predicción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825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5937" y="2482777"/>
            <a:ext cx="1579222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“Si ya entendemos cómo aprende un modelo... ¿siempre debemos construirlo desde cero?”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76817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F9F3ADAA-0A81-A42D-5DEF-15A623B19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63698"/>
              </p:ext>
            </p:extLst>
          </p:nvPr>
        </p:nvGraphicFramePr>
        <p:xfrm>
          <a:off x="1004888" y="6813107"/>
          <a:ext cx="18094324" cy="1737360"/>
        </p:xfrm>
        <a:graphic>
          <a:graphicData uri="http://schemas.openxmlformats.org/drawingml/2006/table">
            <a:tbl>
              <a:tblPr/>
              <a:tblGrid>
                <a:gridCol w="9047162">
                  <a:extLst>
                    <a:ext uri="{9D8B030D-6E8A-4147-A177-3AD203B41FA5}">
                      <a16:colId xmlns:a16="http://schemas.microsoft.com/office/drawing/2014/main" val="1375432071"/>
                    </a:ext>
                  </a:extLst>
                </a:gridCol>
                <a:gridCol w="9047162">
                  <a:extLst>
                    <a:ext uri="{9D8B030D-6E8A-4147-A177-3AD203B41FA5}">
                      <a16:colId xmlns:a16="http://schemas.microsoft.com/office/drawing/2014/main" val="372477124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Machine Learning Tradicional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AutoML (Automated Machine Learning)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8690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sz="1800" dirty="0"/>
                        <a:t>El científico de datos selecciona el algoritmo, ajusta parámetros y evalúa el modelo manualmente.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La plataforma prueba automáticamente múltiples algoritmos y configuraciones para encontrar el mejor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3433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Mayor control y personalización.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Mayor velocidad y productividad.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0614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Requiere mayor conocimiento técnico.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Facilita el desarrollo y la experimentación.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88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74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283" y="2482777"/>
            <a:ext cx="1649588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Durante la clase trabajaremos ambas aproximaciones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58" y="7659075"/>
            <a:ext cx="170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8DFB845-27E1-F314-C21F-937ACDA61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516" y="4500513"/>
            <a:ext cx="160441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1. </a:t>
            </a:r>
            <a:r>
              <a:rPr lang="es-MX" b="1" dirty="0" err="1"/>
              <a:t>AutoML</a:t>
            </a:r>
            <a:endParaRPr lang="es-MX" b="1" dirty="0"/>
          </a:p>
          <a:p>
            <a:r>
              <a:rPr lang="es-MX" dirty="0"/>
              <a:t>Construiremos un modelo de </a:t>
            </a:r>
            <a:r>
              <a:rPr lang="es-MX" b="1" dirty="0"/>
              <a:t>regresión</a:t>
            </a:r>
            <a:r>
              <a:rPr lang="es-MX" dirty="0"/>
              <a:t> utilizando Azure Machine </a:t>
            </a:r>
            <a:r>
              <a:rPr lang="es-MX" dirty="0" err="1"/>
              <a:t>Learning</a:t>
            </a:r>
            <a:r>
              <a:rPr lang="es-MX" dirty="0"/>
              <a:t> y observaremos cómo la plataforma selecciona automáticamente el mejor algoritmo.</a:t>
            </a:r>
          </a:p>
          <a:p>
            <a:endParaRPr lang="es-MX" dirty="0"/>
          </a:p>
          <a:p>
            <a:r>
              <a:rPr lang="es-MX" b="1" dirty="0"/>
              <a:t>2. Machine </a:t>
            </a:r>
            <a:r>
              <a:rPr lang="es-MX" b="1" dirty="0" err="1"/>
              <a:t>Learning</a:t>
            </a:r>
            <a:r>
              <a:rPr lang="es-MX" b="1" dirty="0"/>
              <a:t> Tradicional</a:t>
            </a:r>
          </a:p>
          <a:p>
            <a:r>
              <a:rPr lang="es-MX" dirty="0"/>
              <a:t>Implementaremos tres tipos de modelos para resolver diferentes problemas de negocio: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Regresión</a:t>
            </a:r>
            <a:r>
              <a:rPr lang="es-MX" dirty="0"/>
              <a:t> → Predecir un valor numérico.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Clasificación</a:t>
            </a:r>
            <a:r>
              <a:rPr lang="es-MX" dirty="0"/>
              <a:t> → Asignar una categoría.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Clusterización</a:t>
            </a:r>
            <a:r>
              <a:rPr lang="es-MX" dirty="0"/>
              <a:t> → Descubrir grupos o patrones sin etiquetas.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0AFD8D5D-8DC3-4EA4-35C8-4D026CA5B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482622"/>
              </p:ext>
            </p:extLst>
          </p:nvPr>
        </p:nvGraphicFramePr>
        <p:xfrm>
          <a:off x="1904059" y="7829470"/>
          <a:ext cx="16044103" cy="1896589"/>
        </p:xfrm>
        <a:graphic>
          <a:graphicData uri="http://schemas.openxmlformats.org/drawingml/2006/table">
            <a:tbl>
              <a:tblPr/>
              <a:tblGrid>
                <a:gridCol w="3678023">
                  <a:extLst>
                    <a:ext uri="{9D8B030D-6E8A-4147-A177-3AD203B41FA5}">
                      <a16:colId xmlns:a16="http://schemas.microsoft.com/office/drawing/2014/main" val="525239641"/>
                    </a:ext>
                  </a:extLst>
                </a:gridCol>
                <a:gridCol w="12366080">
                  <a:extLst>
                    <a:ext uri="{9D8B030D-6E8A-4147-A177-3AD203B41FA5}">
                      <a16:colId xmlns:a16="http://schemas.microsoft.com/office/drawing/2014/main" val="4022277549"/>
                    </a:ext>
                  </a:extLst>
                </a:gridCol>
              </a:tblGrid>
              <a:tr h="308321">
                <a:tc>
                  <a:txBody>
                    <a:bodyPr/>
                    <a:lstStyle/>
                    <a:p>
                      <a:r>
                        <a:rPr lang="es-CO" sz="1800" dirty="0"/>
                        <a:t>Tipo de 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802619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AutoML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Predicción automática del número de alquileres de bicicletas.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793917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s-CO" sz="1800" b="1" dirty="0"/>
                        <a:t>Regresión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Estimar el precio de automóviles.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761370"/>
                  </a:ext>
                </a:extLst>
              </a:tr>
              <a:tr h="433549">
                <a:tc>
                  <a:txBody>
                    <a:bodyPr/>
                    <a:lstStyle/>
                    <a:p>
                      <a:r>
                        <a:rPr lang="es-CO" sz="1800" b="1"/>
                        <a:t>Clasificación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Determinar si un paciente tiene o no diabetes.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760720"/>
                  </a:ext>
                </a:extLst>
              </a:tr>
              <a:tr h="356148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Clusterización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Agrupar pingüinos según sus características o segmentar clientes con comportamientos similares.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97945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40DD658E-D474-E5C8-B53B-DE0E04A4FA69}"/>
              </a:ext>
            </a:extLst>
          </p:cNvPr>
          <p:cNvSpPr txBox="1"/>
          <p:nvPr/>
        </p:nvSpPr>
        <p:spPr>
          <a:xfrm>
            <a:off x="1904059" y="7086288"/>
            <a:ext cx="160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Ejemplos que desarrollaremos</a:t>
            </a:r>
          </a:p>
        </p:txBody>
      </p:sp>
    </p:spTree>
    <p:extLst>
      <p:ext uri="{BB962C8B-B14F-4D97-AF65-F5344CB8AC3E}">
        <p14:creationId xmlns:p14="http://schemas.microsoft.com/office/powerpoint/2010/main" val="3223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58" y="7659075"/>
            <a:ext cx="170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object 23">
            <a:extLst>
              <a:ext uri="{FF2B5EF4-FFF2-40B4-BE49-F238E27FC236}">
                <a16:creationId xmlns:a16="http://schemas.microsoft.com/office/drawing/2014/main" id="{FA36BD66-1533-B1AD-9451-D787B80583DA}"/>
              </a:ext>
            </a:extLst>
          </p:cNvPr>
          <p:cNvSpPr txBox="1">
            <a:spLocks/>
          </p:cNvSpPr>
          <p:nvPr/>
        </p:nvSpPr>
        <p:spPr>
          <a:xfrm>
            <a:off x="2982454" y="3881267"/>
            <a:ext cx="14748733" cy="5755422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"Ya sabemos cómo se construye un modelo... ¿dónde vamos a trabajar?“</a:t>
            </a:r>
          </a:p>
          <a:p>
            <a:pPr marL="12700">
              <a:spcBef>
                <a:spcPts val="90"/>
              </a:spcBef>
            </a:pP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  <a:p>
            <a:pPr marL="12700">
              <a:spcBef>
                <a:spcPts val="370"/>
              </a:spcBef>
            </a:pPr>
            <a:r>
              <a:rPr lang="es-MX" sz="4750" kern="0" spc="-380" dirty="0">
                <a:solidFill>
                  <a:srgbClr val="58595B"/>
                </a:solidFill>
                <a:latin typeface="+mn-lt"/>
              </a:rPr>
              <a:t>Preparando nuestro entorno de trabajo</a:t>
            </a:r>
          </a:p>
          <a:p>
            <a:pPr marL="12700">
              <a:spcBef>
                <a:spcPts val="370"/>
              </a:spcBef>
            </a:pPr>
            <a:r>
              <a:rPr lang="es-MX" sz="4750" kern="0" spc="-380" dirty="0">
                <a:solidFill>
                  <a:srgbClr val="58595B"/>
                </a:solidFill>
                <a:latin typeface="+mn-lt"/>
              </a:rPr>
              <a:t>Creación de una cuenta gratuita de Microsoft Azure</a:t>
            </a:r>
          </a:p>
          <a:p>
            <a:pPr marL="12700">
              <a:spcBef>
                <a:spcPts val="370"/>
              </a:spcBef>
            </a:pPr>
            <a:endParaRPr lang="es-CO" sz="475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267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B4082C-BA81-EBC5-C597-21014DF06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2508858"/>
            <a:ext cx="16202705" cy="2087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Para desarrollar los laboratorios del curso utilizaremos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Azure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, la plataforma de Microsoft para crear, entrenar y desplegar modelos de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1. Crear una cuenta de Microsoft (si aún no la tienes)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Utiliza una cuenta personal de Outlook, Hotmail o cualquier correo electrónico.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Si no tienes una cuenta, créala gratuitamente.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Crear una cuenta Microsoft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358EAA-886D-04B2-F29D-B47B721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5050106"/>
            <a:ext cx="16202705" cy="2641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2. Activar una cuenta gratuita de Azure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Accede al portal de Azure y selecciona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Try 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for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 free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La cuenta gratuita incluye: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Crédito inicial para explorar los servicios de Azure.*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Más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65 servicios gratuitos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Acceso al portal de Azure y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Crear una cuenta gratuita de Azure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7BD719-01F7-292F-A986-0329F4255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8149322"/>
            <a:ext cx="1620270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3. Iniciar sesión en Azure Portal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Una vez creada la cuenta, ingresa al portal de Azure con tus credenciales.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4"/>
              </a:rPr>
              <a:t>Azure Portal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067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83266" y="542146"/>
            <a:ext cx="16518212" cy="228780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560"/>
              </a:spcBef>
            </a:pPr>
            <a:r>
              <a:rPr lang="es-MX" sz="7200" b="1" spc="-405" dirty="0">
                <a:latin typeface="+mj-lt"/>
              </a:rPr>
              <a:t>Componentes Básicos para Crear Experimentos en Azure ML</a:t>
            </a:r>
            <a:endParaRPr lang="es-CO" sz="7200" b="1"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C71A58C-466F-E843-34A7-CC5590F4C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333" y="4378362"/>
            <a:ext cx="7280558" cy="48537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783E10F-A5A1-D668-A85C-C8F2A9A72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90" y="2829952"/>
            <a:ext cx="5395325" cy="80929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0177707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latin typeface="Arial"/>
                <a:cs typeface="Arial"/>
              </a:rPr>
              <a:t>Auto ML</a:t>
            </a:r>
          </a:p>
        </p:txBody>
      </p:sp>
    </p:spTree>
    <p:extLst>
      <p:ext uri="{BB962C8B-B14F-4D97-AF65-F5344CB8AC3E}">
        <p14:creationId xmlns:p14="http://schemas.microsoft.com/office/powerpoint/2010/main" val="365860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CE5020A-210E-DA37-61A8-AD10C0AFABBC}"/>
              </a:ext>
            </a:extLst>
          </p:cNvPr>
          <p:cNvSpPr txBox="1"/>
          <p:nvPr/>
        </p:nvSpPr>
        <p:spPr>
          <a:xfrm>
            <a:off x="1097280" y="3096224"/>
            <a:ext cx="18449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AutoML</a:t>
            </a:r>
            <a:endParaRPr lang="es-MX" b="1" dirty="0"/>
          </a:p>
          <a:p>
            <a:r>
              <a:rPr lang="es-MX" b="1" dirty="0" err="1"/>
              <a:t>AutoML</a:t>
            </a:r>
            <a:r>
              <a:rPr lang="es-MX" b="1" dirty="0"/>
              <a:t> (</a:t>
            </a:r>
            <a:r>
              <a:rPr lang="es-MX" b="1" dirty="0" err="1"/>
              <a:t>Automated</a:t>
            </a:r>
            <a:r>
              <a:rPr lang="es-MX" b="1" dirty="0"/>
              <a:t> Machine </a:t>
            </a:r>
            <a:r>
              <a:rPr lang="es-MX" b="1" dirty="0" err="1"/>
              <a:t>Learning</a:t>
            </a:r>
            <a:r>
              <a:rPr lang="es-MX" b="1" dirty="0"/>
              <a:t>) automatiza el proceso de creación de modelos de Machine </a:t>
            </a:r>
            <a:r>
              <a:rPr lang="es-MX" b="1" dirty="0" err="1"/>
              <a:t>Learning</a:t>
            </a:r>
            <a:r>
              <a:rPr lang="es-MX" b="1" dirty="0"/>
              <a:t>, permitiendo encontrar la mejor combinación de algoritmos y parámetros sin necesidad de programar cada paso.</a:t>
            </a:r>
            <a:r>
              <a:rPr lang="es-MX" dirty="0"/>
              <a:t> A partir de un conjunto de datos, la plataforma prueba múltiples modelos, evalúa su desempeño y selecciona automáticamente la mejor alternativa según la métrica definida. Esto acelera el desarrollo de soluciones de IA, reduce el tiempo de experimentación y facilita que tanto perfiles técnicos como de negocio puedan construir modelos predictivos de forma eficiente.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259D04-9095-A9A1-3E68-77E0A89D4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798" y="5091262"/>
            <a:ext cx="7850503" cy="5233668"/>
          </a:xfrm>
          <a:prstGeom prst="rect">
            <a:avLst/>
          </a:prstGeom>
        </p:spPr>
      </p:pic>
      <p:sp>
        <p:nvSpPr>
          <p:cNvPr id="9" name="object 23">
            <a:extLst>
              <a:ext uri="{FF2B5EF4-FFF2-40B4-BE49-F238E27FC236}">
                <a16:creationId xmlns:a16="http://schemas.microsoft.com/office/drawing/2014/main" id="{A56DADCC-3410-8E81-FFEB-EBA37A715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5371" y="1359731"/>
            <a:ext cx="3313356" cy="11798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560"/>
              </a:spcBef>
            </a:pPr>
            <a:r>
              <a:rPr lang="es-MX" sz="7200" b="1" spc="-405" dirty="0">
                <a:latin typeface="+mj-lt"/>
              </a:rPr>
              <a:t>Auto ML</a:t>
            </a:r>
            <a:endParaRPr lang="es-CO" sz="7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306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683632"/>
            <a:ext cx="1597510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Cargar el </a:t>
            </a:r>
            <a:r>
              <a:rPr lang="es-MX" b="1" dirty="0" err="1"/>
              <a:t>Dataset</a:t>
            </a:r>
            <a:r>
              <a:rPr lang="es-MX" b="1" dirty="0"/>
              <a:t> de Automóviles</a:t>
            </a:r>
          </a:p>
          <a:p>
            <a:r>
              <a:rPr lang="es-MX" b="1" dirty="0"/>
              <a:t>Objetivo:</a:t>
            </a:r>
            <a:r>
              <a:rPr lang="es-MX" dirty="0"/>
              <a:t> Registrar el conjunto de datos que utilizaremos para entrenar un modelo de </a:t>
            </a:r>
            <a:r>
              <a:rPr lang="es-MX" b="1" dirty="0"/>
              <a:t>regresión mediante </a:t>
            </a:r>
            <a:r>
              <a:rPr lang="es-MX" b="1" dirty="0" err="1"/>
              <a:t>AutoML</a:t>
            </a:r>
            <a:r>
              <a:rPr lang="es-MX" dirty="0"/>
              <a:t>.</a:t>
            </a:r>
          </a:p>
          <a:p>
            <a:r>
              <a:rPr lang="es-MX" b="1" dirty="0"/>
              <a:t>Fuente de datos</a:t>
            </a:r>
          </a:p>
          <a:p>
            <a:r>
              <a:rPr lang="es-MX" b="1" dirty="0"/>
              <a:t>URL del </a:t>
            </a:r>
            <a:r>
              <a:rPr lang="es-MX" b="1" dirty="0" err="1"/>
              <a:t>dataset</a:t>
            </a:r>
            <a:r>
              <a:rPr lang="es-MX" b="1" dirty="0"/>
              <a:t>:</a:t>
            </a:r>
            <a:endParaRPr lang="es-MX" dirty="0"/>
          </a:p>
          <a:p>
            <a:r>
              <a:rPr lang="es-MX" dirty="0"/>
              <a:t>https://aka.ms/automobile-price-data</a:t>
            </a:r>
          </a:p>
          <a:p>
            <a:r>
              <a:rPr lang="es-MX" b="1" dirty="0"/>
              <a:t>Pasos</a:t>
            </a:r>
          </a:p>
          <a:p>
            <a:pPr>
              <a:buFont typeface="+mj-lt"/>
              <a:buAutoNum type="arabicPeriod"/>
            </a:pPr>
            <a:r>
              <a:rPr lang="es-MX" dirty="0"/>
              <a:t>Ir a </a:t>
            </a:r>
            <a:r>
              <a:rPr lang="es-MX" b="1" dirty="0"/>
              <a:t>Data → +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Asignar el nombre </a:t>
            </a:r>
            <a:r>
              <a:rPr lang="es-MX" b="1" dirty="0" err="1"/>
              <a:t>automobile</a:t>
            </a:r>
            <a:r>
              <a:rPr lang="es-MX" b="1" dirty="0"/>
              <a:t>-data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Seleccionar </a:t>
            </a:r>
            <a:r>
              <a:rPr lang="es-MX" b="1" dirty="0" err="1"/>
              <a:t>Type</a:t>
            </a:r>
            <a:r>
              <a:rPr lang="es-MX" b="1" dirty="0"/>
              <a:t>: Tabular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Elegir </a:t>
            </a:r>
            <a:r>
              <a:rPr lang="es-MX" b="1" dirty="0" err="1"/>
              <a:t>From</a:t>
            </a:r>
            <a:r>
              <a:rPr lang="es-MX" b="1" dirty="0"/>
              <a:t> Web Files</a:t>
            </a:r>
            <a:r>
              <a:rPr lang="es-MX" dirty="0"/>
              <a:t> como origen de datos. </a:t>
            </a:r>
          </a:p>
          <a:p>
            <a:pPr>
              <a:buFont typeface="+mj-lt"/>
              <a:buAutoNum type="arabicPeriod"/>
            </a:pPr>
            <a:r>
              <a:rPr lang="es-MX" dirty="0"/>
              <a:t>Ingresar la URL del </a:t>
            </a:r>
            <a:r>
              <a:rPr lang="es-MX" dirty="0" err="1"/>
              <a:t>dataset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Configurar el archivo: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/>
              <a:t>File </a:t>
            </a:r>
            <a:r>
              <a:rPr lang="es-MX" b="1" dirty="0" err="1"/>
              <a:t>format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Delimited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Delimiter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Comma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Encoding</a:t>
            </a:r>
            <a:r>
              <a:rPr lang="es-MX" b="1" dirty="0"/>
              <a:t>:</a:t>
            </a:r>
            <a:r>
              <a:rPr lang="es-MX" dirty="0"/>
              <a:t> UTF-8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Headers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First</a:t>
            </a:r>
            <a:r>
              <a:rPr lang="es-MX" dirty="0"/>
              <a:t> </a:t>
            </a:r>
            <a:r>
              <a:rPr lang="es-MX" dirty="0" err="1"/>
              <a:t>row</a:t>
            </a:r>
            <a:r>
              <a:rPr lang="es-MX" dirty="0"/>
              <a:t> </a:t>
            </a:r>
            <a:r>
              <a:rPr lang="es-MX" dirty="0" err="1"/>
              <a:t>contains</a:t>
            </a:r>
            <a:r>
              <a:rPr lang="es-MX" dirty="0"/>
              <a:t> </a:t>
            </a:r>
            <a:r>
              <a:rPr lang="es-MX" dirty="0" err="1"/>
              <a:t>headers</a:t>
            </a:r>
            <a:r>
              <a:rPr lang="es-MX" dirty="0"/>
              <a:t> </a:t>
            </a:r>
          </a:p>
          <a:p>
            <a:pPr>
              <a:buFont typeface="+mj-lt"/>
              <a:buAutoNum type="arabicPeriod"/>
            </a:pPr>
            <a:r>
              <a:rPr lang="es-MX" dirty="0"/>
              <a:t>Verificar el esquema de las columnas y continuar con la configuración. </a:t>
            </a:r>
          </a:p>
          <a:p>
            <a:pPr>
              <a:buFont typeface="+mj-lt"/>
              <a:buAutoNum type="arabicPeriod"/>
            </a:pPr>
            <a:r>
              <a:rPr lang="es-MX" dirty="0"/>
              <a:t>Hacer clic en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r>
              <a:rPr lang="es-MX" b="1" dirty="0"/>
              <a:t>Resultado esperado:</a:t>
            </a:r>
            <a:r>
              <a:rPr lang="es-MX" dirty="0"/>
              <a:t>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</a:t>
            </a:r>
            <a:r>
              <a:rPr lang="es-MX" b="1" dirty="0"/>
              <a:t>-data</a:t>
            </a:r>
            <a:r>
              <a:rPr lang="es-MX" dirty="0"/>
              <a:t> quedará registrado en Azure Machine </a:t>
            </a:r>
            <a:r>
              <a:rPr lang="es-MX" dirty="0" err="1"/>
              <a:t>Learning</a:t>
            </a:r>
            <a:r>
              <a:rPr lang="es-MX" dirty="0"/>
              <a:t> y estará disponible para crear el experimento de </a:t>
            </a:r>
            <a:r>
              <a:rPr lang="es-MX" b="1" dirty="0" err="1"/>
              <a:t>AutoML</a:t>
            </a:r>
            <a:r>
              <a:rPr lang="es-MX" dirty="0"/>
              <a:t> y entrenar el modelo de predicción del precio de los automóviles.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416937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7721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650813" y="739205"/>
            <a:ext cx="16802474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del Experimento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CEE285-5903-9DC2-2839-037AD588BBBA}"/>
              </a:ext>
            </a:extLst>
          </p:cNvPr>
          <p:cNvSpPr txBox="1"/>
          <p:nvPr/>
        </p:nvSpPr>
        <p:spPr>
          <a:xfrm>
            <a:off x="1306083" y="2629935"/>
            <a:ext cx="1749193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Objetivo:</a:t>
            </a:r>
            <a:r>
              <a:rPr lang="es-MX" dirty="0"/>
              <a:t> Configurar el experimento de </a:t>
            </a:r>
            <a:r>
              <a:rPr lang="es-MX" b="1" dirty="0" err="1"/>
              <a:t>AutoML</a:t>
            </a:r>
            <a:r>
              <a:rPr lang="es-MX" dirty="0"/>
              <a:t> para entrenar automáticamente un modelo de regresión que prediga el precio de un automóvil.</a:t>
            </a:r>
          </a:p>
          <a:p>
            <a:r>
              <a:rPr lang="es-MX" b="1" dirty="0"/>
              <a:t>1. Creación del experimento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Ir a </a:t>
            </a:r>
            <a:r>
              <a:rPr lang="es-MX" b="1" dirty="0" err="1"/>
              <a:t>Automated</a:t>
            </a:r>
            <a:r>
              <a:rPr lang="es-MX" b="1" dirty="0"/>
              <a:t> ML → + New </a:t>
            </a:r>
            <a:r>
              <a:rPr lang="es-MX" b="1" dirty="0" err="1"/>
              <a:t>Automated</a:t>
            </a:r>
            <a:r>
              <a:rPr lang="es-MX" b="1" dirty="0"/>
              <a:t> ML Job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Seleccionar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</a:t>
            </a:r>
            <a:r>
              <a:rPr lang="es-MX" b="1" dirty="0"/>
              <a:t>-data</a:t>
            </a:r>
            <a:r>
              <a:rPr lang="es-MX" dirty="0"/>
              <a:t>. </a:t>
            </a:r>
          </a:p>
          <a:p>
            <a:r>
              <a:rPr lang="es-MX" b="1" dirty="0"/>
              <a:t>2. Configuración de la tarea</a:t>
            </a:r>
          </a:p>
          <a:p>
            <a:r>
              <a:rPr lang="es-MX" dirty="0"/>
              <a:t>Configurar: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Task</a:t>
            </a:r>
            <a:r>
              <a:rPr lang="es-MX" b="1" dirty="0"/>
              <a:t> </a:t>
            </a:r>
            <a:r>
              <a:rPr lang="es-MX" b="1" dirty="0" err="1"/>
              <a:t>type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Regression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Target </a:t>
            </a:r>
            <a:r>
              <a:rPr lang="es-MX" b="1" dirty="0" err="1"/>
              <a:t>column</a:t>
            </a:r>
            <a:r>
              <a:rPr lang="es-MX" b="1" dirty="0"/>
              <a:t>:</a:t>
            </a:r>
            <a:r>
              <a:rPr lang="es-MX" dirty="0"/>
              <a:t> Price </a:t>
            </a:r>
          </a:p>
          <a:p>
            <a:r>
              <a:rPr lang="es-MX" b="1" dirty="0"/>
              <a:t>3. Configuración del experimento</a:t>
            </a:r>
          </a:p>
          <a:p>
            <a:r>
              <a:rPr lang="es-MX" dirty="0"/>
              <a:t>Definir: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Experiment</a:t>
            </a:r>
            <a:r>
              <a:rPr lang="es-MX" b="1" dirty="0"/>
              <a:t> </a:t>
            </a:r>
            <a:r>
              <a:rPr lang="es-MX" b="1" dirty="0" err="1"/>
              <a:t>name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automobile-price-automl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Primary</a:t>
            </a:r>
            <a:r>
              <a:rPr lang="es-MX" b="1" dirty="0"/>
              <a:t> </a:t>
            </a:r>
            <a:r>
              <a:rPr lang="es-MX" b="1" dirty="0" err="1"/>
              <a:t>metric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Normalized</a:t>
            </a:r>
            <a:r>
              <a:rPr lang="es-MX" dirty="0"/>
              <a:t> </a:t>
            </a:r>
            <a:r>
              <a:rPr lang="es-MX" dirty="0" err="1"/>
              <a:t>Root</a:t>
            </a:r>
            <a:r>
              <a:rPr lang="es-MX" dirty="0"/>
              <a:t> Mean </a:t>
            </a:r>
            <a:r>
              <a:rPr lang="es-MX" dirty="0" err="1"/>
              <a:t>Squared</a:t>
            </a:r>
            <a:r>
              <a:rPr lang="es-MX" dirty="0"/>
              <a:t> Error (NRMSE)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Compute:</a:t>
            </a:r>
            <a:r>
              <a:rPr lang="es-MX" dirty="0"/>
              <a:t> CPU </a:t>
            </a:r>
            <a:r>
              <a:rPr lang="es-MX" dirty="0" err="1"/>
              <a:t>Cluster</a:t>
            </a:r>
            <a:r>
              <a:rPr lang="es-MX" dirty="0"/>
              <a:t> </a:t>
            </a:r>
          </a:p>
          <a:p>
            <a:r>
              <a:rPr lang="es-MX" b="1" dirty="0"/>
              <a:t>4. Preparación automática de los datos</a:t>
            </a:r>
          </a:p>
          <a:p>
            <a:r>
              <a:rPr lang="es-MX" dirty="0"/>
              <a:t>Azure Machine </a:t>
            </a:r>
            <a:r>
              <a:rPr lang="es-MX" dirty="0" err="1"/>
              <a:t>Learning</a:t>
            </a:r>
            <a:r>
              <a:rPr lang="es-MX" dirty="0"/>
              <a:t> realiza automáticamente: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Validación de los datos.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Tratamiento de valores faltantes cuando es necesario.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Codificación de variables categóricas.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Ingeniería y selección de características.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Evaluación de múltiples algoritmos y configuraciones. </a:t>
            </a:r>
          </a:p>
          <a:p>
            <a:r>
              <a:rPr lang="es-MX" b="1" dirty="0"/>
              <a:t>5. Envío del experimento</a:t>
            </a:r>
          </a:p>
          <a:p>
            <a:r>
              <a:rPr lang="es-MX" dirty="0"/>
              <a:t>Hacer clic en </a:t>
            </a:r>
            <a:r>
              <a:rPr lang="es-MX" b="1" dirty="0" err="1"/>
              <a:t>Finish</a:t>
            </a:r>
            <a:r>
              <a:rPr lang="es-MX" dirty="0"/>
              <a:t> para iniciar el entrenamiento automático.</a:t>
            </a:r>
          </a:p>
          <a:p>
            <a:r>
              <a:rPr lang="es-MX" b="1" dirty="0"/>
              <a:t>Resultado esperado:</a:t>
            </a:r>
            <a:r>
              <a:rPr lang="es-MX" dirty="0"/>
              <a:t> Azure Machine </a:t>
            </a:r>
            <a:r>
              <a:rPr lang="es-MX" dirty="0" err="1"/>
              <a:t>Learning</a:t>
            </a:r>
            <a:r>
              <a:rPr lang="es-MX" dirty="0"/>
              <a:t> ejecutará múltiples modelos de regresión, comparará su desempeño y seleccionará automáticamente el modelo con la mejor métrica para predecir el precio de los automóviles.</a:t>
            </a:r>
          </a:p>
        </p:txBody>
      </p:sp>
    </p:spTree>
    <p:extLst>
      <p:ext uri="{BB962C8B-B14F-4D97-AF65-F5344CB8AC3E}">
        <p14:creationId xmlns:p14="http://schemas.microsoft.com/office/powerpoint/2010/main" val="191119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288305"/>
            <a:ext cx="1731346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Objetivo:</a:t>
            </a:r>
            <a:r>
              <a:rPr lang="es-MX" dirty="0"/>
              <a:t> Entrenar automáticamente un modelo de </a:t>
            </a:r>
            <a:r>
              <a:rPr lang="es-MX" b="1" dirty="0"/>
              <a:t>regresión</a:t>
            </a:r>
            <a:r>
              <a:rPr lang="es-MX" dirty="0"/>
              <a:t> utilizando </a:t>
            </a:r>
            <a:r>
              <a:rPr lang="es-MX" dirty="0" err="1"/>
              <a:t>AutoML</a:t>
            </a:r>
            <a:r>
              <a:rPr lang="es-MX" dirty="0"/>
              <a:t> y seleccionar la mejor alternativa para predecir el precio de un automóvil.</a:t>
            </a:r>
          </a:p>
          <a:p>
            <a:r>
              <a:rPr lang="es-MX" b="1" dirty="0"/>
              <a:t>1. Configuración del entrenamiento</a:t>
            </a:r>
          </a:p>
          <a:p>
            <a:r>
              <a:rPr lang="es-MX" dirty="0"/>
              <a:t>Seleccionar: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Task</a:t>
            </a:r>
            <a:r>
              <a:rPr lang="es-MX" b="1" dirty="0"/>
              <a:t> </a:t>
            </a:r>
            <a:r>
              <a:rPr lang="es-MX" b="1" dirty="0" err="1"/>
              <a:t>type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Regression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Dataset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automobile</a:t>
            </a:r>
            <a:r>
              <a:rPr lang="es-MX" dirty="0"/>
              <a:t>-data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Target </a:t>
            </a:r>
            <a:r>
              <a:rPr lang="es-MX" b="1" dirty="0" err="1"/>
              <a:t>column</a:t>
            </a:r>
            <a:r>
              <a:rPr lang="es-MX" b="1" dirty="0"/>
              <a:t>:</a:t>
            </a:r>
            <a:r>
              <a:rPr lang="es-MX" dirty="0"/>
              <a:t> Price </a:t>
            </a:r>
          </a:p>
          <a:p>
            <a:r>
              <a:rPr lang="es-MX" b="1" dirty="0"/>
              <a:t>2. Configuración del experimento</a:t>
            </a:r>
          </a:p>
          <a:p>
            <a:r>
              <a:rPr lang="es-MX" dirty="0"/>
              <a:t>Definir: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Primary</a:t>
            </a:r>
            <a:r>
              <a:rPr lang="es-MX" b="1" dirty="0"/>
              <a:t> </a:t>
            </a:r>
            <a:r>
              <a:rPr lang="es-MX" b="1" dirty="0" err="1"/>
              <a:t>metric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Normalized</a:t>
            </a:r>
            <a:r>
              <a:rPr lang="es-MX" dirty="0"/>
              <a:t> </a:t>
            </a:r>
            <a:r>
              <a:rPr lang="es-MX" dirty="0" err="1"/>
              <a:t>Root</a:t>
            </a:r>
            <a:r>
              <a:rPr lang="es-MX" dirty="0"/>
              <a:t> Mean </a:t>
            </a:r>
            <a:r>
              <a:rPr lang="es-MX" dirty="0" err="1"/>
              <a:t>Squared</a:t>
            </a:r>
            <a:r>
              <a:rPr lang="es-MX" dirty="0"/>
              <a:t> Error (NRMSE)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Compute:</a:t>
            </a:r>
            <a:r>
              <a:rPr lang="es-MX" dirty="0"/>
              <a:t> CPU </a:t>
            </a:r>
            <a:r>
              <a:rPr lang="es-MX" dirty="0" err="1"/>
              <a:t>Cluster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Training time:</a:t>
            </a:r>
            <a:r>
              <a:rPr lang="es-MX" dirty="0"/>
              <a:t> Valor predeterminado </a:t>
            </a:r>
          </a:p>
          <a:p>
            <a:r>
              <a:rPr lang="es-MX" b="1" dirty="0"/>
              <a:t>3. Entrenamiento automático</a:t>
            </a:r>
          </a:p>
          <a:p>
            <a:r>
              <a:rPr lang="es-MX" dirty="0"/>
              <a:t>Azure Machine </a:t>
            </a:r>
            <a:r>
              <a:rPr lang="es-MX" dirty="0" err="1"/>
              <a:t>Learning</a:t>
            </a:r>
            <a:r>
              <a:rPr lang="es-MX" dirty="0"/>
              <a:t> ejecutará automáticamente: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Diferentes algoritmos de regresión.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Múltiples combinaciones de </a:t>
            </a:r>
            <a:r>
              <a:rPr lang="es-MX" dirty="0" err="1"/>
              <a:t>hiperparámetros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Validación y comparación del desempeño de cada modelo. </a:t>
            </a:r>
          </a:p>
          <a:p>
            <a:r>
              <a:rPr lang="es-MX" b="1" dirty="0"/>
              <a:t>4. Ejecutar el experimento</a:t>
            </a:r>
          </a:p>
          <a:p>
            <a:r>
              <a:rPr lang="es-MX" dirty="0"/>
              <a:t>Hacer clic en </a:t>
            </a:r>
            <a:r>
              <a:rPr lang="es-MX" b="1" dirty="0" err="1"/>
              <a:t>Finish</a:t>
            </a:r>
            <a:r>
              <a:rPr lang="es-MX" dirty="0"/>
              <a:t> para iniciar el trabajo de </a:t>
            </a:r>
            <a:r>
              <a:rPr lang="es-MX" dirty="0" err="1"/>
              <a:t>AutoML</a:t>
            </a:r>
            <a:r>
              <a:rPr lang="es-MX" dirty="0"/>
              <a:t> y esperar la finalización del entrenamiento.</a:t>
            </a:r>
          </a:p>
          <a:p>
            <a:r>
              <a:rPr lang="es-MX" b="1" dirty="0"/>
              <a:t>Resultado esperado</a:t>
            </a:r>
          </a:p>
          <a:p>
            <a:r>
              <a:rPr lang="es-MX" dirty="0"/>
              <a:t>Visualizar el ranking de modelos entrenados, identificar el </a:t>
            </a:r>
            <a:r>
              <a:rPr lang="es-MX" b="1" dirty="0" err="1"/>
              <a:t>Best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seleccionado por </a:t>
            </a:r>
            <a:r>
              <a:rPr lang="es-MX" dirty="0" err="1"/>
              <a:t>AutoML</a:t>
            </a:r>
            <a:r>
              <a:rPr lang="es-MX" dirty="0"/>
              <a:t> y revisar sus principales métricas de desempeño antes de desplegarlo como un servicio de inferencia en tiempo real.</a:t>
            </a:r>
          </a:p>
          <a:p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con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8880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Mejor Modelo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CC7A08C-A618-4526-5EE2-32A649798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63442"/>
              </p:ext>
            </p:extLst>
          </p:nvPr>
        </p:nvGraphicFramePr>
        <p:xfrm>
          <a:off x="1004888" y="2697248"/>
          <a:ext cx="18094326" cy="2926080"/>
        </p:xfrm>
        <a:graphic>
          <a:graphicData uri="http://schemas.openxmlformats.org/drawingml/2006/table">
            <a:tbl>
              <a:tblPr/>
              <a:tblGrid>
                <a:gridCol w="6031442">
                  <a:extLst>
                    <a:ext uri="{9D8B030D-6E8A-4147-A177-3AD203B41FA5}">
                      <a16:colId xmlns:a16="http://schemas.microsoft.com/office/drawing/2014/main" val="2553120612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491716115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39269823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Métrica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¿Qué significa?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¿Qué buscamos?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01903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Normalized RMSE (NRMSE)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Error promedio de las predicciones, normalizado respecto al rango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que el modelo predice con mayor precisión.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951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R² Score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Mide qué porcentaje de la variabilidad del precio es explicado por el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mayor, mejor.</a:t>
                      </a:r>
                      <a:r>
                        <a:rPr lang="es-MX" sz="1800"/>
                        <a:t> Un valor cercano a 1 representa un excelente ajuste.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69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/>
                        <a:t>Mean Absolute Error (MAE)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Promedio del error absoluto entre el valor real y el valor predicho.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predicciones más cercanas a la realidad.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53647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Training Duration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Tiempo empleado por AutoML para entrenar y evaluar los diferentes modelos.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Permite conocer el costo computacional del entrenamiento.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049989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25E6BF-D2AE-1C29-8D1A-16EE0BC93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36941"/>
              </p:ext>
            </p:extLst>
          </p:nvPr>
        </p:nvGraphicFramePr>
        <p:xfrm>
          <a:off x="1004888" y="6531151"/>
          <a:ext cx="18094326" cy="3566160"/>
        </p:xfrm>
        <a:graphic>
          <a:graphicData uri="http://schemas.openxmlformats.org/drawingml/2006/table">
            <a:tbl>
              <a:tblPr/>
              <a:tblGrid>
                <a:gridCol w="6031442">
                  <a:extLst>
                    <a:ext uri="{9D8B030D-6E8A-4147-A177-3AD203B41FA5}">
                      <a16:colId xmlns:a16="http://schemas.microsoft.com/office/drawing/2014/main" val="1863553081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1863984234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3168024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800" b="1"/>
                        <a:t>Métrica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Resultado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Interpretación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81875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Normalized</a:t>
                      </a:r>
                      <a:r>
                        <a:rPr lang="es-CO" sz="1800" b="1" dirty="0"/>
                        <a:t> RMSE (NRMSE)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0.0796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Excelente.</a:t>
                      </a:r>
                      <a:r>
                        <a:rPr lang="es-MX" sz="1800"/>
                        <a:t> El error normalizado es inferior al 8 %, lo que indica una alta precisión en las predicciones.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013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R² Score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0.8305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El modelo explica aproximadamente el </a:t>
                      </a:r>
                      <a:r>
                        <a:rPr lang="es-MX" sz="1800" b="1"/>
                        <a:t>83 %</a:t>
                      </a:r>
                      <a:r>
                        <a:rPr lang="es-MX" sz="1800"/>
                        <a:t> de la variabilidad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86604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/>
                        <a:t>Mean Absolute Error (MAE)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177.74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En promedio, las predicciones difieren en 178 unidades respecto al valor real.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2086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Root Mean Squared Error (RMSE)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271.41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Penaliza los errores grandes y confirma un buen desempeño general del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4179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Explained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Variance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0.832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El modelo captura cerca del </a:t>
                      </a:r>
                      <a:r>
                        <a:rPr lang="es-MX" sz="1800" b="1" dirty="0"/>
                        <a:t>83 %</a:t>
                      </a:r>
                      <a:r>
                        <a:rPr lang="es-MX" sz="1800" dirty="0"/>
                        <a:t> de la variación presente en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25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86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3EC404-9021-DEED-04D3-1E7EAF52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273" y="5217872"/>
            <a:ext cx="9660938" cy="438813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344489A-C105-0A7E-E279-F0773AFD1DA4}"/>
              </a:ext>
            </a:extLst>
          </p:cNvPr>
          <p:cNvSpPr txBox="1"/>
          <p:nvPr/>
        </p:nvSpPr>
        <p:spPr>
          <a:xfrm>
            <a:off x="1220022" y="3360025"/>
            <a:ext cx="72247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Interpretación de las gráficas</a:t>
            </a:r>
          </a:p>
          <a:p>
            <a:r>
              <a:rPr lang="es-MX" b="1" dirty="0" err="1"/>
              <a:t>Predicted</a:t>
            </a:r>
            <a:r>
              <a:rPr lang="es-MX" b="1" dirty="0"/>
              <a:t> vs True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La línea de predicción sigue muy de cerca la línea ideal.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Existe una alta correlación entre los valores reales y los predichos.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Conclusión:</a:t>
            </a:r>
            <a:r>
              <a:rPr lang="es-MX" dirty="0"/>
              <a:t> el modelo presenta una buena capacidad predictiva. </a:t>
            </a:r>
          </a:p>
          <a:p>
            <a:r>
              <a:rPr lang="es-MX" b="1" dirty="0"/>
              <a:t>Residual </a:t>
            </a:r>
            <a:r>
              <a:rPr lang="es-MX" b="1" dirty="0" err="1"/>
              <a:t>Histogram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La mayoría de los errores se concentran alrededor de </a:t>
            </a:r>
            <a:r>
              <a:rPr lang="es-MX" b="1" dirty="0"/>
              <a:t>0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Se observan pocos errores extremos.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Conclusión:</a:t>
            </a:r>
            <a:r>
              <a:rPr lang="es-MX" dirty="0"/>
              <a:t> el modelo mantiene errores pequeños para la mayor parte de las observaciones. 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74EAB6E-8907-6CA4-0B07-5A396B72907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Mejor Modelo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569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75D0818A-5395-0C36-AC87-42DF96B99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3160551"/>
            <a:ext cx="18093690" cy="6370975"/>
          </a:xfrm>
        </p:spPr>
        <p:txBody>
          <a:bodyPr/>
          <a:lstStyle/>
          <a:p>
            <a:r>
              <a:rPr lang="es-MX" b="1" dirty="0"/>
              <a:t>1. Verdadero o Falso</a:t>
            </a:r>
          </a:p>
          <a:p>
            <a:r>
              <a:rPr lang="es-MX" dirty="0"/>
              <a:t>El Machine </a:t>
            </a:r>
            <a:r>
              <a:rPr lang="es-MX" dirty="0" err="1"/>
              <a:t>Learning</a:t>
            </a:r>
            <a:r>
              <a:rPr lang="es-MX" dirty="0"/>
              <a:t> es una técnica que utiliza matemáticas y estadística para crear un modelo capaz de predecir valores desconocidos.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2. Selección múltiple</a:t>
            </a:r>
          </a:p>
          <a:p>
            <a:r>
              <a:rPr lang="es-MX" dirty="0"/>
              <a:t>¿Qué tipo de modelo es el más adecuado para predecir categorías o clases?</a:t>
            </a:r>
          </a:p>
          <a:p>
            <a:pPr lvl="1"/>
            <a:r>
              <a:rPr lang="es-MX" dirty="0"/>
              <a:t>•	○ Regresión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r>
              <a:rPr lang="es-MX" b="1" dirty="0"/>
              <a:t>3. Verdadero o Falso</a:t>
            </a:r>
          </a:p>
          <a:p>
            <a:r>
              <a:rPr lang="es-MX" dirty="0"/>
              <a:t>La gráfica "Predicho vs. Real" debe mostrar una tendencia diagonal en la que los valores predichos se aproximen a los valores reales.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4. Selección múltiple</a:t>
            </a:r>
          </a:p>
          <a:p>
            <a:r>
              <a:rPr lang="es-MX" dirty="0"/>
              <a:t>Si desea que Azure Machine </a:t>
            </a:r>
            <a:r>
              <a:rPr lang="es-MX" dirty="0" err="1"/>
              <a:t>Learning</a:t>
            </a:r>
            <a:r>
              <a:rPr lang="es-MX" dirty="0"/>
              <a:t> realice automáticamente el preprocesamiento de las variables antes del entrenamiento, ¿qué opción debe habilitar?</a:t>
            </a:r>
          </a:p>
          <a:p>
            <a:pPr lvl="1"/>
            <a:r>
              <a:rPr lang="es-MX" dirty="0"/>
              <a:t>•	○ Habilitar la ingeniería automática de características (</a:t>
            </a:r>
            <a:r>
              <a:rPr lang="es-MX" dirty="0" err="1"/>
              <a:t>Enable</a:t>
            </a:r>
            <a:r>
              <a:rPr lang="es-MX" dirty="0"/>
              <a:t> </a:t>
            </a:r>
            <a:r>
              <a:rPr lang="es-MX" dirty="0" err="1"/>
              <a:t>featurization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Explicar el mejor modelo (</a:t>
            </a:r>
            <a:r>
              <a:rPr lang="es-MX" dirty="0" err="1"/>
              <a:t>Explain</a:t>
            </a:r>
            <a:r>
              <a:rPr lang="es-MX" dirty="0"/>
              <a:t> </a:t>
            </a:r>
            <a:r>
              <a:rPr lang="es-MX" dirty="0" err="1"/>
              <a:t>best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Tiempo de entrenamiento (Training </a:t>
            </a:r>
            <a:r>
              <a:rPr lang="es-MX" dirty="0" err="1"/>
              <a:t>job</a:t>
            </a:r>
            <a:r>
              <a:rPr lang="es-MX" dirty="0"/>
              <a:t> time) </a:t>
            </a:r>
          </a:p>
          <a:p>
            <a:r>
              <a:rPr lang="es-MX" b="1" dirty="0"/>
              <a:t>5. Selección múltiple</a:t>
            </a:r>
          </a:p>
          <a:p>
            <a:r>
              <a:rPr lang="es-MX" dirty="0"/>
              <a:t>En un histograma de residuos, ¿qué representan los residuos?</a:t>
            </a:r>
          </a:p>
          <a:p>
            <a:pPr lvl="1"/>
            <a:r>
              <a:rPr lang="es-MX" dirty="0"/>
              <a:t>•	○ La variación entre los valores predichos y los valores incorrectos que puede explicar el modelo. </a:t>
            </a:r>
          </a:p>
          <a:p>
            <a:pPr lvl="1"/>
            <a:r>
              <a:rPr lang="es-MX" dirty="0"/>
              <a:t>•	○ La variación entre los valores predichos y los valores incorrectos que no puede explicar el modelo. </a:t>
            </a:r>
          </a:p>
          <a:p>
            <a:pPr lvl="1"/>
            <a:r>
              <a:rPr lang="es-MX" dirty="0"/>
              <a:t>•	○ La diferencia entre los valores reales y los valores predichos que el modelo no logra explicar. </a:t>
            </a:r>
            <a:endParaRPr lang="es-CO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A212EC2F-63F5-42DC-F113-FE224C2D034E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3618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2">
            <a:extLst>
              <a:ext uri="{FF2B5EF4-FFF2-40B4-BE49-F238E27FC236}">
                <a16:creationId xmlns:a16="http://schemas.microsoft.com/office/drawing/2014/main" id="{A212EC2F-63F5-42DC-F113-FE224C2D034E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C7DD8F39-053F-9837-CEEB-325499933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5816977"/>
          </a:xfrm>
        </p:spPr>
        <p:txBody>
          <a:bodyPr/>
          <a:lstStyle/>
          <a:p>
            <a:r>
              <a:rPr lang="es-MX" b="1" dirty="0"/>
              <a:t>1. Selección múltiple</a:t>
            </a:r>
          </a:p>
          <a:p>
            <a:r>
              <a:rPr lang="es-MX" dirty="0"/>
              <a:t>Un hospital desea clasificar a las pacientes embarazadas como de bajo o alto riesgo de presentar complicaciones durante el parto, utilizando información como la edad y antecedentes médicos. ¿Qué tipo de modelo de Machine </a:t>
            </a:r>
            <a:r>
              <a:rPr lang="es-MX" dirty="0" err="1"/>
              <a:t>Learning</a:t>
            </a:r>
            <a:r>
              <a:rPr lang="es-MX" dirty="0"/>
              <a:t> debería utilizar?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pPr lvl="1"/>
            <a:r>
              <a:rPr lang="es-MX" dirty="0"/>
              <a:t>•	○ Regresión </a:t>
            </a:r>
          </a:p>
          <a:p>
            <a:r>
              <a:rPr lang="es-MX" b="1" dirty="0"/>
              <a:t>2. Selección múltiple (Seleccione todas las opciones correctas)</a:t>
            </a:r>
          </a:p>
          <a:p>
            <a:r>
              <a:rPr lang="es-MX" dirty="0"/>
              <a:t>¿Cuáles de los siguientes corresponden a modelos o técnicas de Machine </a:t>
            </a:r>
            <a:r>
              <a:rPr lang="es-MX" dirty="0" err="1"/>
              <a:t>Learning</a:t>
            </a:r>
            <a:r>
              <a:rPr lang="es-MX" dirty="0"/>
              <a:t>?</a:t>
            </a:r>
          </a:p>
          <a:p>
            <a:pPr lvl="1"/>
            <a:r>
              <a:rPr lang="es-MX" dirty="0"/>
              <a:t>•	□ Polarización </a:t>
            </a:r>
          </a:p>
          <a:p>
            <a:pPr lvl="1"/>
            <a:r>
              <a:rPr lang="es-MX" dirty="0"/>
              <a:t>•	□ Regresión </a:t>
            </a:r>
          </a:p>
          <a:p>
            <a:pPr lvl="1"/>
            <a:r>
              <a:rPr lang="es-MX" dirty="0"/>
              <a:t>•	□ Pronóstico de series de tiempo </a:t>
            </a:r>
          </a:p>
          <a:p>
            <a:r>
              <a:rPr lang="es-MX" b="1" dirty="0"/>
              <a:t>3. Selección múltiple</a:t>
            </a:r>
          </a:p>
          <a:p>
            <a:r>
              <a:rPr lang="es-MX" dirty="0"/>
              <a:t>Un instituto meteorológico desea predecir, con base en datos históricos, cuánta lluvia caerá el próximo domingo. ¿Qué tipo de modelo de Machine </a:t>
            </a:r>
            <a:r>
              <a:rPr lang="es-MX" dirty="0" err="1"/>
              <a:t>Learning</a:t>
            </a:r>
            <a:r>
              <a:rPr lang="es-MX" dirty="0"/>
              <a:t> es el más adecuado?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Regresión </a:t>
            </a:r>
          </a:p>
          <a:p>
            <a:r>
              <a:rPr lang="es-MX" b="1" dirty="0"/>
              <a:t>4. Selección múltiple</a:t>
            </a:r>
          </a:p>
          <a:p>
            <a:r>
              <a:rPr lang="es-MX" dirty="0"/>
              <a:t>Una empresa de juguetes desea predecir la demanda diaria de sus productos para garantizar el inventario necesario. ¿Qué tipo de modelo de Machine </a:t>
            </a:r>
            <a:r>
              <a:rPr lang="es-MX" dirty="0" err="1"/>
              <a:t>Learning</a:t>
            </a:r>
            <a:r>
              <a:rPr lang="es-MX" dirty="0"/>
              <a:t> debería utilizar?</a:t>
            </a:r>
          </a:p>
          <a:p>
            <a:pPr lvl="1"/>
            <a:r>
              <a:rPr lang="es-MX" dirty="0"/>
              <a:t>•	○ Regresión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</a:t>
            </a:r>
            <a:r>
              <a:rPr lang="es-MX" dirty="0" err="1"/>
              <a:t>Clusterización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85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55A157D-2B78-CFD2-A4C9-E3563B01932A}"/>
              </a:ext>
            </a:extLst>
          </p:cNvPr>
          <p:cNvSpPr txBox="1"/>
          <p:nvPr/>
        </p:nvSpPr>
        <p:spPr>
          <a:xfrm>
            <a:off x="1252294" y="2933807"/>
            <a:ext cx="175995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5. Verdadero o Falso</a:t>
            </a:r>
          </a:p>
          <a:p>
            <a:r>
              <a:rPr lang="es-MX" dirty="0"/>
              <a:t>Azure Machine </a:t>
            </a:r>
            <a:r>
              <a:rPr lang="es-MX" dirty="0" err="1"/>
              <a:t>Learning</a:t>
            </a:r>
            <a:r>
              <a:rPr lang="es-MX" dirty="0"/>
              <a:t> incluye una funcionalidad de </a:t>
            </a:r>
            <a:r>
              <a:rPr lang="es-MX" dirty="0" err="1"/>
              <a:t>AutoML</a:t>
            </a:r>
            <a:r>
              <a:rPr lang="es-MX" dirty="0"/>
              <a:t> que aprovecha la capacidad de cómputo en la nube para probar automáticamente múltiples técnicas de preprocesamiento, algoritmos y configuraciones de entrenamiento con el fin de encontrar el modelo supervisado con mejor desempeño.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6. Verdadero o Falso</a:t>
            </a:r>
          </a:p>
          <a:p>
            <a:r>
              <a:rPr lang="es-MX" dirty="0"/>
              <a:t>Una empresa de alquiler de bicicletas puede utilizar datos históricos para entrenar un modelo que prediga la demanda diaria de bicicletas y así planificar la disponibilidad de personal y bicicletas.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7. Selección múltiple</a:t>
            </a:r>
          </a:p>
          <a:p>
            <a:r>
              <a:rPr lang="es-MX" dirty="0"/>
              <a:t>¿Qué configuración permite finalizar automáticamente un experimento de </a:t>
            </a:r>
            <a:r>
              <a:rPr lang="es-MX" dirty="0" err="1"/>
              <a:t>AutoML</a:t>
            </a:r>
            <a:r>
              <a:rPr lang="es-MX" dirty="0"/>
              <a:t> cuando el modelo alcanza un valor objetivo para la métrica NRMSE?</a:t>
            </a:r>
          </a:p>
          <a:p>
            <a:pPr lvl="1"/>
            <a:r>
              <a:rPr lang="es-MX" dirty="0"/>
              <a:t>•	○ Umbral de la métrica (</a:t>
            </a:r>
            <a:r>
              <a:rPr lang="es-MX" dirty="0" err="1"/>
              <a:t>Metric</a:t>
            </a:r>
            <a:r>
              <a:rPr lang="es-MX" dirty="0"/>
              <a:t> score </a:t>
            </a:r>
            <a:r>
              <a:rPr lang="es-MX" dirty="0" err="1"/>
              <a:t>threshold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Algoritmos bloqueados (</a:t>
            </a:r>
            <a:r>
              <a:rPr lang="es-MX" dirty="0" err="1"/>
              <a:t>Blocked</a:t>
            </a:r>
            <a:r>
              <a:rPr lang="es-MX" dirty="0"/>
              <a:t> </a:t>
            </a:r>
            <a:r>
              <a:rPr lang="es-MX" dirty="0" err="1"/>
              <a:t>algorithms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Recurso de cómputo (Training compute target) </a:t>
            </a:r>
          </a:p>
          <a:p>
            <a:endParaRPr lang="es-MX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0B6C175-37A4-D888-1341-8C304FE976B6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650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9607551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latin typeface="Arial"/>
                <a:cs typeface="Arial"/>
              </a:rPr>
              <a:t>Regresión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2524540" y="5217848"/>
            <a:ext cx="78916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regresión permite predecir un valor numérico continuo</a:t>
            </a:r>
            <a:r>
              <a:rPr lang="es-MX" dirty="0"/>
              <a:t> a partir de datos históricos y variables de entrada. Por ejemplo, una empresa puede estimar el consumo de energía, la demanda de producción, el tiempo de fabricación o el costo de un producto utilizando información previamente registrada. </a:t>
            </a:r>
            <a:r>
              <a:rPr lang="es-MX" b="1" dirty="0"/>
              <a:t>Su objetivo es identificar la relación entre las variables para realizar predicciones precisas que apoyen la toma de decisiones.</a:t>
            </a:r>
            <a:endParaRPr lang="es-MX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2342927"/>
            <a:ext cx="3868345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Regresión</a:t>
            </a:r>
          </a:p>
          <a:p>
            <a:pPr marL="12700" algn="ctr">
              <a:lnSpc>
                <a:spcPts val="11625"/>
              </a:lnSpc>
              <a:spcBef>
                <a:spcPts val="90"/>
              </a:spcBef>
            </a:pPr>
            <a:endParaRPr lang="es-CO" sz="7200" dirty="0">
              <a:latin typeface="+mj-lt"/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F4B70F-C0A8-69ED-6356-3AD8E4D74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939" y="3986643"/>
            <a:ext cx="6325104" cy="42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27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683632"/>
            <a:ext cx="1597510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Cargar el </a:t>
            </a:r>
            <a:r>
              <a:rPr lang="es-MX" b="1" dirty="0" err="1"/>
              <a:t>Dataset</a:t>
            </a:r>
            <a:r>
              <a:rPr lang="es-MX" b="1" dirty="0"/>
              <a:t> de Alquiler de Bicicletas</a:t>
            </a:r>
          </a:p>
          <a:p>
            <a:r>
              <a:rPr lang="es-MX" b="1" dirty="0"/>
              <a:t>Objetivo:</a:t>
            </a:r>
            <a:r>
              <a:rPr lang="es-MX" dirty="0"/>
              <a:t> Registrar el conjunto de datos que utilizaremos para entrenar el modelo de </a:t>
            </a:r>
            <a:r>
              <a:rPr lang="es-MX" b="1" dirty="0"/>
              <a:t>regresión</a:t>
            </a:r>
            <a:r>
              <a:rPr lang="es-MX" dirty="0"/>
              <a:t>.</a:t>
            </a:r>
          </a:p>
          <a:p>
            <a:r>
              <a:rPr lang="es-MX" b="1" dirty="0"/>
              <a:t>Fuente de datos</a:t>
            </a:r>
          </a:p>
          <a:p>
            <a:r>
              <a:rPr lang="es-MX" b="1" dirty="0"/>
              <a:t>URL del </a:t>
            </a:r>
            <a:r>
              <a:rPr lang="es-MX" b="1" dirty="0" err="1"/>
              <a:t>dataset</a:t>
            </a:r>
            <a:r>
              <a:rPr lang="es-MX" b="1" dirty="0"/>
              <a:t>:</a:t>
            </a:r>
            <a:br>
              <a:rPr lang="es-MX" dirty="0"/>
            </a:br>
            <a:r>
              <a:rPr lang="es-MX" dirty="0"/>
              <a:t>https://aka.ms/bike-rentals</a:t>
            </a:r>
          </a:p>
          <a:p>
            <a:r>
              <a:rPr lang="es-MX" b="1" dirty="0"/>
              <a:t>Pasos</a:t>
            </a:r>
          </a:p>
          <a:p>
            <a:pPr>
              <a:buFont typeface="+mj-lt"/>
              <a:buAutoNum type="arabicPeriod"/>
            </a:pPr>
            <a:r>
              <a:rPr lang="es-MX" dirty="0"/>
              <a:t>Ir a </a:t>
            </a:r>
            <a:r>
              <a:rPr lang="es-MX" b="1" dirty="0"/>
              <a:t>Data → +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Asignar el nombre </a:t>
            </a:r>
            <a:r>
              <a:rPr lang="es-MX" b="1" dirty="0" err="1"/>
              <a:t>bike-rentals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Seleccionar </a:t>
            </a:r>
            <a:r>
              <a:rPr lang="es-MX" b="1" dirty="0" err="1"/>
              <a:t>Type</a:t>
            </a:r>
            <a:r>
              <a:rPr lang="es-MX" b="1" dirty="0"/>
              <a:t>: Tabular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Elegir </a:t>
            </a:r>
            <a:r>
              <a:rPr lang="es-MX" b="1" dirty="0" err="1"/>
              <a:t>From</a:t>
            </a:r>
            <a:r>
              <a:rPr lang="es-MX" b="1" dirty="0"/>
              <a:t> Web Files</a:t>
            </a:r>
            <a:r>
              <a:rPr lang="es-MX" dirty="0"/>
              <a:t> como origen de datos. </a:t>
            </a:r>
          </a:p>
          <a:p>
            <a:pPr>
              <a:buFont typeface="+mj-lt"/>
              <a:buAutoNum type="arabicPeriod"/>
            </a:pPr>
            <a:r>
              <a:rPr lang="es-MX" dirty="0"/>
              <a:t>Ingresar la URL del </a:t>
            </a:r>
            <a:r>
              <a:rPr lang="es-MX" dirty="0" err="1"/>
              <a:t>dataset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Configurar el archivo: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/>
              <a:t>File </a:t>
            </a:r>
            <a:r>
              <a:rPr lang="es-MX" b="1" dirty="0" err="1"/>
              <a:t>format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Delimited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Delimiter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Comma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Encoding</a:t>
            </a:r>
            <a:r>
              <a:rPr lang="es-MX" b="1" dirty="0"/>
              <a:t>:</a:t>
            </a:r>
            <a:r>
              <a:rPr lang="es-MX" dirty="0"/>
              <a:t> UTF-8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Headers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First</a:t>
            </a:r>
            <a:r>
              <a:rPr lang="es-MX" dirty="0"/>
              <a:t> </a:t>
            </a:r>
            <a:r>
              <a:rPr lang="es-MX" dirty="0" err="1"/>
              <a:t>row</a:t>
            </a:r>
            <a:r>
              <a:rPr lang="es-MX" dirty="0"/>
              <a:t> </a:t>
            </a:r>
            <a:r>
              <a:rPr lang="es-MX" dirty="0" err="1"/>
              <a:t>contains</a:t>
            </a:r>
            <a:r>
              <a:rPr lang="es-MX" dirty="0"/>
              <a:t> </a:t>
            </a:r>
            <a:r>
              <a:rPr lang="es-MX" dirty="0" err="1"/>
              <a:t>headers</a:t>
            </a:r>
            <a:r>
              <a:rPr lang="es-MX" dirty="0"/>
              <a:t> </a:t>
            </a:r>
          </a:p>
          <a:p>
            <a:pPr>
              <a:buFont typeface="+mj-lt"/>
              <a:buAutoNum type="arabicPeriod"/>
            </a:pPr>
            <a:r>
              <a:rPr lang="es-MX" dirty="0"/>
              <a:t>Revisar el esquema de columnas y verificar que la columna objetivo </a:t>
            </a:r>
            <a:r>
              <a:rPr lang="es-MX" b="1" dirty="0" err="1"/>
              <a:t>Rentals</a:t>
            </a:r>
            <a:r>
              <a:rPr lang="es-MX" dirty="0"/>
              <a:t> esté disponible. </a:t>
            </a:r>
          </a:p>
          <a:p>
            <a:pPr>
              <a:buFont typeface="+mj-lt"/>
              <a:buAutoNum type="arabicPeriod"/>
            </a:pPr>
            <a:r>
              <a:rPr lang="es-MX" dirty="0"/>
              <a:t>Hacer clic en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r>
              <a:rPr lang="es-MX" b="1" dirty="0"/>
              <a:t>Resultado esperado:</a:t>
            </a:r>
            <a:r>
              <a:rPr lang="es-MX" dirty="0"/>
              <a:t>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bike-rentals</a:t>
            </a:r>
            <a:r>
              <a:rPr lang="es-MX" dirty="0"/>
              <a:t> quedará registrado en Azure Machine </a:t>
            </a:r>
            <a:r>
              <a:rPr lang="es-MX" dirty="0" err="1"/>
              <a:t>Learning</a:t>
            </a:r>
            <a:r>
              <a:rPr lang="es-MX" dirty="0"/>
              <a:t> y estará disponible para crear el experimento de </a:t>
            </a:r>
            <a:r>
              <a:rPr lang="es-MX" b="1" dirty="0" err="1"/>
              <a:t>AutoML</a:t>
            </a:r>
            <a:r>
              <a:rPr lang="es-MX" b="1" dirty="0"/>
              <a:t> de regresión</a:t>
            </a:r>
            <a:r>
              <a:rPr lang="es-MX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424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1368132"/>
            <a:ext cx="17313462" cy="951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1. Selección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Se conservan las variables más representativas de las características del vehículo, incluyendo variables categóricas y numéricas como: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Variables categóricas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Make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Fuel </a:t>
            </a:r>
            <a:r>
              <a:rPr lang="es-MX" altLang="es-CO" dirty="0" err="1"/>
              <a:t>Type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Aspiration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Body</a:t>
            </a:r>
            <a:r>
              <a:rPr lang="es-MX" altLang="es-CO" dirty="0"/>
              <a:t> Style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Drive </a:t>
            </a:r>
            <a:r>
              <a:rPr lang="es-MX" altLang="es-CO" dirty="0" err="1"/>
              <a:t>Wheels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Type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Fuel </a:t>
            </a:r>
            <a:r>
              <a:rPr lang="es-MX" altLang="es-CO" dirty="0" err="1"/>
              <a:t>System</a:t>
            </a:r>
            <a:r>
              <a:rPr lang="es-MX" altLang="es-CO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Variables numéricas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Wheel Base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Length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Width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Bore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Stroke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Compression</a:t>
            </a:r>
            <a:r>
              <a:rPr lang="es-MX" altLang="es-CO" dirty="0"/>
              <a:t> Ratio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Horsepower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Peak</a:t>
            </a:r>
            <a:r>
              <a:rPr lang="es-MX" altLang="es-CO" dirty="0"/>
              <a:t> RPM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City MPG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Highway</a:t>
            </a:r>
            <a:r>
              <a:rPr lang="es-MX" altLang="es-CO" dirty="0"/>
              <a:t> MPG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 objetivo (</a:t>
            </a:r>
            <a:r>
              <a:rPr lang="es-MX" altLang="es-CO" dirty="0" err="1"/>
              <a:t>Label</a:t>
            </a:r>
            <a:r>
              <a:rPr lang="es-MX" altLang="es-CO" dirty="0"/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Price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Esta es la variable que el modelo aprenderá a estimar a partir de las características del automóvil.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2. Limpieza y validación de los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El componente </a:t>
            </a:r>
            <a:r>
              <a:rPr lang="es-MX" altLang="es-CO" dirty="0" err="1"/>
              <a:t>Clean</a:t>
            </a:r>
            <a:r>
              <a:rPr lang="es-MX" altLang="es-CO" dirty="0"/>
              <a:t> </a:t>
            </a:r>
            <a:r>
              <a:rPr lang="es-MX" altLang="es-CO" dirty="0" err="1"/>
              <a:t>Missing</a:t>
            </a:r>
            <a:r>
              <a:rPr lang="es-MX" altLang="es-CO" dirty="0"/>
              <a:t> Data realiza la preparación inicial del conjunto de datos mediante: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Identificación de valores faltantes (</a:t>
            </a:r>
            <a:r>
              <a:rPr lang="es-MX" altLang="es-CO" dirty="0" err="1"/>
              <a:t>NaN</a:t>
            </a:r>
            <a:r>
              <a:rPr lang="es-MX" altLang="es-CO" dirty="0"/>
              <a:t>).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Tratamiento de registros incompletos según la configuración definida.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Validación de la calidad de los datos antes del entrenamiento.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Resultado: el conjunto de datos queda listo para la siguiente etapa del proceso.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244351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6685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2771989"/>
            <a:ext cx="17313462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3. Normalización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El componente </a:t>
            </a:r>
            <a:r>
              <a:rPr lang="es-MX" altLang="es-CO" dirty="0" err="1"/>
              <a:t>Normalize</a:t>
            </a:r>
            <a:r>
              <a:rPr lang="es-MX" altLang="es-CO" dirty="0"/>
              <a:t> Data transforma las variables numéricas para que trabajen sobre una escala comparable.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Se normalizan principalmente variables continuas como: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Wheel Base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Length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Width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Bore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Stroke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Compression</a:t>
            </a:r>
            <a:r>
              <a:rPr lang="es-MX" altLang="es-CO" dirty="0"/>
              <a:t> Ratio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Horsepower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Peak</a:t>
            </a:r>
            <a:r>
              <a:rPr lang="es-MX" altLang="es-CO" dirty="0"/>
              <a:t> RPM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City MPG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Highway</a:t>
            </a:r>
            <a:r>
              <a:rPr lang="es-MX" altLang="es-CO" dirty="0"/>
              <a:t> MPG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¿Por qué normalizar?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La normalización evita que variables con valores numéricos muy grandes (por ejemplo, 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o 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) tengan mayor influencia que otras durante el entrenamiento, mejorando la estabilidad y el desempeño del modelo de regresión.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4. Preparación para el entrenamiento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Una vez finalizado el preprocesamiento, el </a:t>
            </a:r>
            <a:r>
              <a:rPr lang="es-MX" altLang="es-CO" dirty="0" err="1"/>
              <a:t>dataset</a:t>
            </a:r>
            <a:r>
              <a:rPr lang="es-MX" altLang="es-CO" dirty="0"/>
              <a:t> se encuentra listo para: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Dividir los datos en entrenamiento (70%) y validación (30%).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Entrenar un modelo de Linear </a:t>
            </a:r>
            <a:r>
              <a:rPr lang="es-MX" altLang="es-CO" dirty="0" err="1"/>
              <a:t>Regression</a:t>
            </a:r>
            <a:r>
              <a:rPr lang="es-MX" altLang="es-CO" dirty="0"/>
              <a:t>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Evaluar su capacidad para predecir el precio de nuevos automóviles.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5. Envío del experimento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Asignar un nombre descriptivo al experimento, por 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 err="1"/>
              <a:t>mslearn</a:t>
            </a:r>
            <a:r>
              <a:rPr lang="es-MX" altLang="es-CO" dirty="0"/>
              <a:t>-</a:t>
            </a:r>
            <a:r>
              <a:rPr lang="es-MX" altLang="es-CO" dirty="0" err="1"/>
              <a:t>auto-training</a:t>
            </a:r>
            <a:endParaRPr lang="es-MX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Este experimento almacenará la ejecución completa del entrenamiento y permitirá posteriormente construir el pipeline de inferencia y realizar nuevas predicciones.</a:t>
            </a: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9518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Regresión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AD6BA6E-791F-E8F7-5FEA-EAA78C2B99A1}"/>
              </a:ext>
            </a:extLst>
          </p:cNvPr>
          <p:cNvSpPr txBox="1"/>
          <p:nvPr/>
        </p:nvSpPr>
        <p:spPr>
          <a:xfrm>
            <a:off x="816610" y="2495775"/>
            <a:ext cx="18470880" cy="860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s-CO" sz="1800" b="1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es-CO" sz="1300" b="1" kern="1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dirty="0"/>
              <a:t>Entrenar un modelo de </a:t>
            </a:r>
            <a:r>
              <a:rPr lang="es-MX" b="1" dirty="0"/>
              <a:t>Regresión Lineal</a:t>
            </a:r>
            <a:r>
              <a:rPr lang="es-MX" dirty="0"/>
              <a:t> para predecir el </a:t>
            </a:r>
            <a:r>
              <a:rPr lang="es-MX" b="1" dirty="0"/>
              <a:t>precio de un automóvil</a:t>
            </a:r>
            <a:r>
              <a:rPr lang="es-MX" dirty="0"/>
              <a:t> a partir de sus características técnicas, utilizando un conjunto de datos previamente preparado y validado.</a:t>
            </a:r>
            <a:endParaRPr lang="es-CO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s-MX" b="1" dirty="0"/>
              <a:t>1. División de los datos</a:t>
            </a:r>
          </a:p>
          <a:p>
            <a:r>
              <a:rPr lang="es-MX" dirty="0"/>
              <a:t>Se incorpora el módulo </a:t>
            </a:r>
            <a:r>
              <a:rPr lang="es-MX" b="1" dirty="0"/>
              <a:t>Split Data</a:t>
            </a:r>
            <a:r>
              <a:rPr lang="es-MX" dirty="0"/>
              <a:t> para dividir el conjunto de datos 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Train:</a:t>
            </a:r>
            <a:r>
              <a:rPr lang="es-MX" dirty="0"/>
              <a:t> 70%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Test:</a:t>
            </a:r>
            <a:r>
              <a:rPr lang="es-MX" dirty="0"/>
              <a:t> 30%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Stratified</a:t>
            </a:r>
            <a:r>
              <a:rPr lang="es-MX" b="1" dirty="0"/>
              <a:t> Split:</a:t>
            </a:r>
            <a:r>
              <a:rPr lang="es-MX" dirty="0"/>
              <a:t> False </a:t>
            </a:r>
          </a:p>
          <a:p>
            <a:r>
              <a:rPr lang="es-MX" dirty="0"/>
              <a:t>Esta división permite entrenar el modelo con una parte de los datos y evaluar posteriormente su desempeño utilizando información que no fue utilizada durante el entrenamiento.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2. Entrenamiento del modelo</a:t>
            </a:r>
          </a:p>
          <a:p>
            <a:r>
              <a:rPr lang="es-MX" dirty="0"/>
              <a:t>Se agregan los módulos </a:t>
            </a:r>
            <a:r>
              <a:rPr lang="es-MX" b="1" dirty="0"/>
              <a:t>Linear </a:t>
            </a:r>
            <a:r>
              <a:rPr lang="es-MX" b="1" dirty="0" err="1"/>
              <a:t>Regression</a:t>
            </a:r>
            <a:r>
              <a:rPr lang="es-MX" dirty="0"/>
              <a:t> y </a:t>
            </a:r>
            <a:r>
              <a:rPr lang="es-MX" b="1" dirty="0"/>
              <a:t>Train </a:t>
            </a:r>
            <a:r>
              <a:rPr lang="es-MX" b="1" dirty="0" err="1"/>
              <a:t>Model</a:t>
            </a:r>
            <a:r>
              <a:rPr lang="es-MX" dirty="0"/>
              <a:t>, configurando </a:t>
            </a:r>
            <a:r>
              <a:rPr lang="es-MX" b="1" dirty="0"/>
              <a:t>Price</a:t>
            </a:r>
            <a:r>
              <a:rPr lang="es-MX" dirty="0"/>
              <a:t> como la </a:t>
            </a:r>
            <a:r>
              <a:rPr lang="es-MX" b="1" dirty="0"/>
              <a:t>variable objetivo (</a:t>
            </a:r>
            <a:r>
              <a:rPr lang="es-MX" b="1" dirty="0" err="1"/>
              <a:t>Label</a:t>
            </a:r>
            <a:r>
              <a:rPr lang="es-MX" b="1" dirty="0"/>
              <a:t>)</a:t>
            </a:r>
            <a:r>
              <a:rPr lang="es-MX" dirty="0"/>
              <a:t>. Como variables predictoras se utilizan todas las características técnicas del automóvil seleccionadas durante el preprocesamiento, excluyendo la variable objetivo.</a:t>
            </a:r>
          </a:p>
          <a:p>
            <a:endParaRPr lang="es-CO" b="1" kern="100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3. Evaluación del modelo</a:t>
            </a:r>
          </a:p>
          <a:p>
            <a:r>
              <a:rPr lang="es-MX" dirty="0"/>
              <a:t>Se incorporan los módulos </a:t>
            </a: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y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generar las predicciones sobre el conjunto de prueba y compararlas con los valores reales del precio de los automóviles.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4. Ejecución del experimento</a:t>
            </a:r>
          </a:p>
          <a:p>
            <a:r>
              <a:rPr lang="es-MX" dirty="0"/>
              <a:t>El pipeline se ejecuta utilizando el experimento </a:t>
            </a:r>
            <a:r>
              <a:rPr lang="es-MX" b="1" dirty="0" err="1"/>
              <a:t>mslearn</a:t>
            </a:r>
            <a:r>
              <a:rPr lang="es-MX" b="1" dirty="0"/>
              <a:t>-</a:t>
            </a:r>
            <a:r>
              <a:rPr lang="es-MX" b="1" dirty="0" err="1"/>
              <a:t>auto-training</a:t>
            </a:r>
            <a:r>
              <a:rPr lang="es-MX" dirty="0"/>
              <a:t>, permitiendo entrenar y evaluar el modelo de regresión.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b="1" kern="100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Resultado esperado</a:t>
            </a:r>
          </a:p>
          <a:p>
            <a:r>
              <a:rPr lang="es-MX" dirty="0"/>
              <a:t>Analizar las métricas generadas por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medir el desempeño del modelo: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Mean Absolute Error (MAE):</a:t>
            </a:r>
            <a:r>
              <a:rPr lang="es-MX" dirty="0"/>
              <a:t> error promedio entre el precio real y el predicho.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Root</a:t>
            </a:r>
            <a:r>
              <a:rPr lang="es-MX" b="1" dirty="0"/>
              <a:t> Mean </a:t>
            </a:r>
            <a:r>
              <a:rPr lang="es-MX" b="1" dirty="0" err="1"/>
              <a:t>Squared</a:t>
            </a:r>
            <a:r>
              <a:rPr lang="es-MX" b="1" dirty="0"/>
              <a:t> Error (RMSE):</a:t>
            </a:r>
            <a:r>
              <a:rPr lang="es-MX" dirty="0"/>
              <a:t> penaliza con mayor peso los errores de mayor magnitud.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Relative Absolute Error (RAE):</a:t>
            </a:r>
            <a:r>
              <a:rPr lang="es-MX" dirty="0"/>
              <a:t> compara el error del modelo respecto a un modelo base.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Relative </a:t>
            </a:r>
            <a:r>
              <a:rPr lang="es-MX" b="1" dirty="0" err="1"/>
              <a:t>Squared</a:t>
            </a:r>
            <a:r>
              <a:rPr lang="es-MX" b="1" dirty="0"/>
              <a:t> Error (RSE):</a:t>
            </a:r>
            <a:r>
              <a:rPr lang="es-MX" dirty="0"/>
              <a:t> mide el error cuadrático relativo.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Coefficient</a:t>
            </a:r>
            <a:r>
              <a:rPr lang="es-MX" b="1" dirty="0"/>
              <a:t> </a:t>
            </a:r>
            <a:r>
              <a:rPr lang="es-MX" b="1" dirty="0" err="1"/>
              <a:t>of</a:t>
            </a:r>
            <a:r>
              <a:rPr lang="es-MX" b="1" dirty="0"/>
              <a:t> </a:t>
            </a:r>
            <a:r>
              <a:rPr lang="es-MX" b="1" dirty="0" err="1"/>
              <a:t>Determination</a:t>
            </a:r>
            <a:r>
              <a:rPr lang="es-MX" b="1" dirty="0"/>
              <a:t> (R²):</a:t>
            </a:r>
            <a:r>
              <a:rPr lang="es-MX" dirty="0"/>
              <a:t> indica el porcentaje de variabilidad del precio explicado por el modelo. </a:t>
            </a:r>
          </a:p>
          <a:p>
            <a:r>
              <a:rPr lang="es-MX" dirty="0"/>
              <a:t>El objetivo es obtener un modelo capaz de </a:t>
            </a:r>
            <a:r>
              <a:rPr lang="es-MX" b="1" dirty="0"/>
              <a:t>estimar el precio de un automóvil</a:t>
            </a:r>
            <a:r>
              <a:rPr lang="es-MX" dirty="0"/>
              <a:t> a partir de sus características técnicas y validar su capacidad predictiva mediante métricas estándar de regresión.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4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Regresión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3ACA32D-1D72-62C7-9D7C-B9CE1020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70" y="2990676"/>
            <a:ext cx="7361558" cy="1577477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E3CAEBF-8D5B-B77E-26D6-C17D5E777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646902"/>
              </p:ext>
            </p:extLst>
          </p:nvPr>
        </p:nvGraphicFramePr>
        <p:xfrm>
          <a:off x="1505583" y="5892237"/>
          <a:ext cx="17092932" cy="4114800"/>
        </p:xfrm>
        <a:graphic>
          <a:graphicData uri="http://schemas.openxmlformats.org/drawingml/2006/table">
            <a:tbl>
              <a:tblPr/>
              <a:tblGrid>
                <a:gridCol w="5697644">
                  <a:extLst>
                    <a:ext uri="{9D8B030D-6E8A-4147-A177-3AD203B41FA5}">
                      <a16:colId xmlns:a16="http://schemas.microsoft.com/office/drawing/2014/main" val="3828670395"/>
                    </a:ext>
                  </a:extLst>
                </a:gridCol>
                <a:gridCol w="4533149">
                  <a:extLst>
                    <a:ext uri="{9D8B030D-6E8A-4147-A177-3AD203B41FA5}">
                      <a16:colId xmlns:a16="http://schemas.microsoft.com/office/drawing/2014/main" val="3878065604"/>
                    </a:ext>
                  </a:extLst>
                </a:gridCol>
                <a:gridCol w="6862139">
                  <a:extLst>
                    <a:ext uri="{9D8B030D-6E8A-4147-A177-3AD203B41FA5}">
                      <a16:colId xmlns:a16="http://schemas.microsoft.com/office/drawing/2014/main" val="41125388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Métrica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Interpretación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56859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R² (</a:t>
                      </a:r>
                      <a:r>
                        <a:rPr lang="es-CO" sz="1800" b="1" dirty="0" err="1"/>
                        <a:t>Coefficient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of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Determination</a:t>
                      </a:r>
                      <a:r>
                        <a:rPr lang="es-CO" sz="1800" b="1" dirty="0"/>
                        <a:t>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0.9177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El modelo explica aproximadamente el </a:t>
                      </a:r>
                      <a:r>
                        <a:rPr lang="es-MX" sz="1800" b="1"/>
                        <a:t>91.8%</a:t>
                      </a:r>
                      <a:r>
                        <a:rPr lang="es-MX" sz="1800"/>
                        <a:t> de la variabilidad del precio. Es un resultado muy bueno.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32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MAE (Mean Absolute Error)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1955.62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En promedio, el modelo se equivoca en unos </a:t>
                      </a:r>
                      <a:r>
                        <a:rPr lang="es-MX" sz="1800" b="1"/>
                        <a:t>1,956 dólares</a:t>
                      </a:r>
                      <a:r>
                        <a:rPr lang="es-MX" sz="1800"/>
                        <a:t> al predecir el precio de un automóvil.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60079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RMSE (Root Mean Squared Error)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2892.37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Los errores grandes elevan esta métrica. Al ser mayor que el MAE, indica que existen algunas predicciones con errores relativamente altos.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71883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RAE (Relative Absolute Error)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0.2456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El error absoluto es aproximadamente el </a:t>
                      </a:r>
                      <a:r>
                        <a:rPr lang="es-MX" sz="1800" b="1"/>
                        <a:t>24.6%</a:t>
                      </a:r>
                      <a:r>
                        <a:rPr lang="es-MX" sz="1800"/>
                        <a:t> del error de un modelo base que simplemente predice el promedio. Mientras más cerca de 0, mejor.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5057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RSE (Relative </a:t>
                      </a:r>
                      <a:r>
                        <a:rPr lang="es-CO" sz="1800" b="1" dirty="0" err="1"/>
                        <a:t>Squared</a:t>
                      </a:r>
                      <a:r>
                        <a:rPr lang="es-CO" sz="1800" b="1" dirty="0"/>
                        <a:t> Error)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0.0823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Muy bajo (8.2%), lo que indica un buen desempeño del modelo respecto al modelo 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99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097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Regresión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A692BF-0D42-6804-036C-7ABDDD97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469" y="2849110"/>
            <a:ext cx="5763161" cy="778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26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3702271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Regresión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Probar el </a:t>
            </a:r>
            <a:r>
              <a:rPr lang="es-MX" b="1" dirty="0"/>
              <a:t>modelo de regresión entrenado</a:t>
            </a:r>
            <a:r>
              <a:rPr lang="es-MX" dirty="0"/>
              <a:t> utilizando nuevos automóviles y estimar automáticamente el </a:t>
            </a:r>
            <a:r>
              <a:rPr lang="es-MX" b="1" dirty="0"/>
              <a:t>precio predicho</a:t>
            </a:r>
            <a:r>
              <a:rPr lang="es-MX" dirty="0"/>
              <a:t> para cada uno de ellos.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automobile_price_raw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eliminar la variable </a:t>
            </a:r>
            <a:r>
              <a:rPr lang="es-MX" b="1" dirty="0"/>
              <a:t>Price</a:t>
            </a:r>
            <a:r>
              <a:rPr lang="es-MX" dirty="0"/>
              <a:t>, ya que es el valor que el modelo debe predecir.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automóviles.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retornar únicamente la columna </a:t>
            </a:r>
            <a:r>
              <a:rPr lang="es-MX" b="1" dirty="0" err="1"/>
              <a:t>predicted_price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930339"/>
            <a:ext cx="17459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ADBBF2-6B59-1EAE-2A54-21EF1DEAFAEF}"/>
              </a:ext>
            </a:extLst>
          </p:cNvPr>
          <p:cNvSpPr txBox="1"/>
          <p:nvPr/>
        </p:nvSpPr>
        <p:spPr>
          <a:xfrm>
            <a:off x="1322217" y="7312127"/>
            <a:ext cx="174596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symboling,normalized-losses,make,fuel-type,aspiration,num-of-doors,body-style,drive-wheels,engine-location,wheel-base,length,width,height,curb-weight,engine-type,num-of-cylinders,engine-size,fuel-system,bore,stroke,compression-ratio,horsepower,peak-rpm,city-mpg,highway-mpg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1,NaN,alfa-romero,gas,std,two,hatchback,rwd,front,94.5,171.2,65.5,52.4,2823,ohcv,six,152,mpfi,2.68,3.47,9,154,5000,19,26</a:t>
            </a:r>
          </a:p>
        </p:txBody>
      </p:sp>
    </p:spTree>
    <p:extLst>
      <p:ext uri="{BB962C8B-B14F-4D97-AF65-F5344CB8AC3E}">
        <p14:creationId xmlns:p14="http://schemas.microsoft.com/office/powerpoint/2010/main" val="109449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48AEB8-6FA9-D2FB-BB97-4C6E81E679E0}"/>
              </a:ext>
            </a:extLst>
          </p:cNvPr>
          <p:cNvSpPr txBox="1"/>
          <p:nvPr/>
        </p:nvSpPr>
        <p:spPr>
          <a:xfrm>
            <a:off x="1359869" y="3159633"/>
            <a:ext cx="17384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Resultado esperado</a:t>
            </a:r>
          </a:p>
          <a:p>
            <a:r>
              <a:rPr lang="es-MX" dirty="0"/>
              <a:t>Visualizar la salida del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, donde únicamente se devuelve la columna </a:t>
            </a:r>
            <a:r>
              <a:rPr lang="es-MX" b="1" dirty="0" err="1"/>
              <a:t>predicted_price</a:t>
            </a:r>
            <a:r>
              <a:rPr lang="es-MX" dirty="0"/>
              <a:t> con el precio estimado para cada automóvil ingresado.</a:t>
            </a:r>
          </a:p>
          <a:p>
            <a:r>
              <a:rPr lang="es-MX" b="1" dirty="0"/>
              <a:t>Predicciones obtenidas durante el laboratorio:</a:t>
            </a:r>
            <a:endParaRPr lang="es-MX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2BCC35C-DAF4-EA65-2221-E3D00DF16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79296"/>
              </p:ext>
            </p:extLst>
          </p:nvPr>
        </p:nvGraphicFramePr>
        <p:xfrm>
          <a:off x="5206700" y="4798951"/>
          <a:ext cx="8025206" cy="1463040"/>
        </p:xfrm>
        <a:graphic>
          <a:graphicData uri="http://schemas.openxmlformats.org/drawingml/2006/table">
            <a:tbl>
              <a:tblPr/>
              <a:tblGrid>
                <a:gridCol w="4012603">
                  <a:extLst>
                    <a:ext uri="{9D8B030D-6E8A-4147-A177-3AD203B41FA5}">
                      <a16:colId xmlns:a16="http://schemas.microsoft.com/office/drawing/2014/main" val="130144171"/>
                    </a:ext>
                  </a:extLst>
                </a:gridCol>
                <a:gridCol w="4012603">
                  <a:extLst>
                    <a:ext uri="{9D8B030D-6E8A-4147-A177-3AD203B41FA5}">
                      <a16:colId xmlns:a16="http://schemas.microsoft.com/office/drawing/2014/main" val="190445344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Automóvil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Precio predicho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761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Registro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14,996.97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578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Registro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14,996.97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251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Registro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13,523.45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40421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B6E13558-0D05-8FDA-78A1-99CD7DFD4D01}"/>
              </a:ext>
            </a:extLst>
          </p:cNvPr>
          <p:cNvSpPr txBox="1"/>
          <p:nvPr/>
        </p:nvSpPr>
        <p:spPr>
          <a:xfrm>
            <a:off x="1359869" y="7104987"/>
            <a:ext cx="17384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Salida final del pipeline:</a:t>
            </a:r>
            <a:r>
              <a:rPr lang="es-MX" dirty="0"/>
              <a:t> una única columna llamada </a:t>
            </a:r>
            <a:r>
              <a:rPr lang="es-MX" b="1" dirty="0" err="1"/>
              <a:t>predicted_price</a:t>
            </a:r>
            <a:r>
              <a:rPr lang="es-MX" dirty="0"/>
              <a:t>, lista para ser consumida posteriormente por un servicio REST o una aplicación externa.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2058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76539E7-41DC-7BCD-4623-87163281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28" y="3310821"/>
            <a:ext cx="9429485" cy="61097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D1B80F-81F2-F879-C1F1-E710EE59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056" y="5237374"/>
            <a:ext cx="3597413" cy="246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69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3561689-520A-D1D4-55B1-597035D62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26612"/>
              </p:ext>
            </p:extLst>
          </p:nvPr>
        </p:nvGraphicFramePr>
        <p:xfrm>
          <a:off x="4914786" y="4420386"/>
          <a:ext cx="10274526" cy="4058556"/>
        </p:xfrm>
        <a:graphic>
          <a:graphicData uri="http://schemas.openxmlformats.org/drawingml/2006/table">
            <a:tbl>
              <a:tblPr/>
              <a:tblGrid>
                <a:gridCol w="5137263">
                  <a:extLst>
                    <a:ext uri="{9D8B030D-6E8A-4147-A177-3AD203B41FA5}">
                      <a16:colId xmlns:a16="http://schemas.microsoft.com/office/drawing/2014/main" val="3249351019"/>
                    </a:ext>
                  </a:extLst>
                </a:gridCol>
                <a:gridCol w="5137263">
                  <a:extLst>
                    <a:ext uri="{9D8B030D-6E8A-4147-A177-3AD203B41FA5}">
                      <a16:colId xmlns:a16="http://schemas.microsoft.com/office/drawing/2014/main" val="1405628849"/>
                    </a:ext>
                  </a:extLst>
                </a:gridCol>
              </a:tblGrid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Pipeline de entrenamiento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Pipeline de inferencia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445718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Aprende a partir de datos históricos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Usa el modelo ya entrenado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293929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Contiene </a:t>
                      </a:r>
                      <a:r>
                        <a:rPr lang="es-CO" sz="1800" b="1" dirty="0"/>
                        <a:t>Train </a:t>
                      </a:r>
                      <a:r>
                        <a:rPr lang="es-CO" sz="1800" b="1" dirty="0" err="1"/>
                        <a:t>Model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No entrena nuevamente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549934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Contiene </a:t>
                      </a:r>
                      <a:r>
                        <a:rPr lang="es-CO" sz="1800" b="1" dirty="0" err="1"/>
                        <a:t>Evaluate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Model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No evalúa el desempeño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312612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Genera el 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Genera predicciones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922830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Se ejecuta ocasionalmente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Se ejecuta cada vez que llega un nuevo dato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367058"/>
                  </a:ext>
                </a:extLst>
              </a:tr>
            </a:tbl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02C2C25F-6075-5339-1365-EA54879754B6}"/>
              </a:ext>
            </a:extLst>
          </p:cNvPr>
          <p:cNvSpPr txBox="1"/>
          <p:nvPr/>
        </p:nvSpPr>
        <p:spPr>
          <a:xfrm>
            <a:off x="5484820" y="1911789"/>
            <a:ext cx="9134458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Diferencia entre los pipelines</a:t>
            </a:r>
          </a:p>
        </p:txBody>
      </p:sp>
    </p:spTree>
    <p:extLst>
      <p:ext uri="{BB962C8B-B14F-4D97-AF65-F5344CB8AC3E}">
        <p14:creationId xmlns:p14="http://schemas.microsoft.com/office/powerpoint/2010/main" val="3022928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8EEFF13-1E39-1996-3C53-59194D28C6E4}"/>
              </a:ext>
            </a:extLst>
          </p:cNvPr>
          <p:cNvSpPr txBox="1"/>
          <p:nvPr/>
        </p:nvSpPr>
        <p:spPr>
          <a:xfrm>
            <a:off x="1602890" y="3193343"/>
            <a:ext cx="17707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Deployment</a:t>
            </a:r>
            <a:r>
              <a:rPr lang="es-MX" b="1" dirty="0"/>
              <a:t> de Modelos en Azure Machine </a:t>
            </a:r>
            <a:r>
              <a:rPr lang="es-MX" b="1" dirty="0" err="1"/>
              <a:t>Learning</a:t>
            </a:r>
            <a:endParaRPr lang="es-MX" b="1" dirty="0"/>
          </a:p>
          <a:p>
            <a:endParaRPr lang="es-MX" b="1" dirty="0"/>
          </a:p>
          <a:p>
            <a:r>
              <a:rPr lang="es-MX" b="1" dirty="0"/>
              <a:t>¿Qué es un </a:t>
            </a:r>
            <a:r>
              <a:rPr lang="es-MX" b="1" dirty="0" err="1"/>
              <a:t>Deployment</a:t>
            </a:r>
            <a:r>
              <a:rPr lang="es-MX" b="1" dirty="0"/>
              <a:t>?</a:t>
            </a:r>
          </a:p>
          <a:p>
            <a:r>
              <a:rPr lang="es-MX" dirty="0"/>
              <a:t>Es el proceso de </a:t>
            </a:r>
            <a:r>
              <a:rPr lang="es-MX" b="1" dirty="0"/>
              <a:t>publicar un modelo de Machine </a:t>
            </a:r>
            <a:r>
              <a:rPr lang="es-MX" b="1" dirty="0" err="1"/>
              <a:t>Learning</a:t>
            </a:r>
            <a:r>
              <a:rPr lang="es-MX" b="1" dirty="0"/>
              <a:t> como un servicio (</a:t>
            </a:r>
            <a:r>
              <a:rPr lang="es-MX" b="1" dirty="0" err="1"/>
              <a:t>endpoint</a:t>
            </a:r>
            <a:r>
              <a:rPr lang="es-MX" b="1" dirty="0"/>
              <a:t>)</a:t>
            </a:r>
            <a:r>
              <a:rPr lang="es-MX" dirty="0"/>
              <a:t> para que aplicaciones externas puedan enviar datos y recibir predicciones en tiempo real.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3A0923B7-E9E4-B164-8816-DD348D5EA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588519"/>
              </p:ext>
            </p:extLst>
          </p:nvPr>
        </p:nvGraphicFramePr>
        <p:xfrm>
          <a:off x="1602889" y="5038049"/>
          <a:ext cx="17707088" cy="1828800"/>
        </p:xfrm>
        <a:graphic>
          <a:graphicData uri="http://schemas.openxmlformats.org/drawingml/2006/table">
            <a:tbl>
              <a:tblPr/>
              <a:tblGrid>
                <a:gridCol w="5948398">
                  <a:extLst>
                    <a:ext uri="{9D8B030D-6E8A-4147-A177-3AD203B41FA5}">
                      <a16:colId xmlns:a16="http://schemas.microsoft.com/office/drawing/2014/main" val="3643027736"/>
                    </a:ext>
                  </a:extLst>
                </a:gridCol>
                <a:gridCol w="11758690">
                  <a:extLst>
                    <a:ext uri="{9D8B030D-6E8A-4147-A177-3AD203B41FA5}">
                      <a16:colId xmlns:a16="http://schemas.microsoft.com/office/drawing/2014/main" val="3795684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Componente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5167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Modelo entrenado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Artefacto generado durante el entrenamiento.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3024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err="1"/>
                        <a:t>Inference</a:t>
                      </a:r>
                      <a:r>
                        <a:rPr lang="es-CO" sz="1800" b="1" dirty="0"/>
                        <a:t> Pipeline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Aplica el mismo preprocesamiento y realiza la predicción.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7703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err="1"/>
                        <a:t>Endpoint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URL pública o privada para consumir el modelo mediante HTTP.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2741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Cliente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Aplicación que envía datos y recibe la predicción.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565147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55CEE4A6-03E5-3C98-F2AB-9989F150C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811385"/>
              </p:ext>
            </p:extLst>
          </p:nvPr>
        </p:nvGraphicFramePr>
        <p:xfrm>
          <a:off x="1602888" y="7377062"/>
          <a:ext cx="17707088" cy="1097280"/>
        </p:xfrm>
        <a:graphic>
          <a:graphicData uri="http://schemas.openxmlformats.org/drawingml/2006/table">
            <a:tbl>
              <a:tblPr/>
              <a:tblGrid>
                <a:gridCol w="5930208">
                  <a:extLst>
                    <a:ext uri="{9D8B030D-6E8A-4147-A177-3AD203B41FA5}">
                      <a16:colId xmlns:a16="http://schemas.microsoft.com/office/drawing/2014/main" val="1326231674"/>
                    </a:ext>
                  </a:extLst>
                </a:gridCol>
                <a:gridCol w="11776880">
                  <a:extLst>
                    <a:ext uri="{9D8B030D-6E8A-4147-A177-3AD203B41FA5}">
                      <a16:colId xmlns:a16="http://schemas.microsoft.com/office/drawing/2014/main" val="108506035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Opción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Uso recomendado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720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Azure Container </a:t>
                      </a:r>
                      <a:r>
                        <a:rPr lang="es-CO" sz="1800" b="1" dirty="0" err="1"/>
                        <a:t>Instances</a:t>
                      </a:r>
                      <a:r>
                        <a:rPr lang="es-CO" sz="1800" b="1" dirty="0"/>
                        <a:t> (ACI)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Desarrollo, pruebas y demostraciones.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5670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Azure </a:t>
                      </a:r>
                      <a:r>
                        <a:rPr lang="es-CO" sz="1800" b="1" dirty="0" err="1"/>
                        <a:t>Kubernetes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Service</a:t>
                      </a:r>
                      <a:r>
                        <a:rPr lang="es-CO" sz="1800" b="1" dirty="0"/>
                        <a:t> (AKS)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Producción, alta disponibilidad y escalabilidad.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375273"/>
                  </a:ext>
                </a:extLst>
              </a:tr>
            </a:tbl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97F3CA4A-9D0A-023B-BE5B-23CF2689CE4B}"/>
              </a:ext>
            </a:extLst>
          </p:cNvPr>
          <p:cNvSpPr txBox="1"/>
          <p:nvPr/>
        </p:nvSpPr>
        <p:spPr>
          <a:xfrm>
            <a:off x="7991170" y="1567283"/>
            <a:ext cx="4121759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Deployment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2805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latin typeface="Arial"/>
                <a:cs typeface="Arial"/>
              </a:rPr>
              <a:t>Clasificación</a:t>
            </a:r>
          </a:p>
        </p:txBody>
      </p:sp>
    </p:spTree>
    <p:extLst>
      <p:ext uri="{BB962C8B-B14F-4D97-AF65-F5344CB8AC3E}">
        <p14:creationId xmlns:p14="http://schemas.microsoft.com/office/powerpoint/2010/main" val="4248272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1557131" y="2872676"/>
            <a:ext cx="169898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clasificación permite predecir una categoría o clase</a:t>
            </a:r>
            <a:r>
              <a:rPr lang="es-MX" dirty="0"/>
              <a:t> a partir de datos históricos y variables de entrada. Por ejemplo, una empresa puede identificar si un equipo requiere mantenimiento, clasificar la calidad de un producto como aprobada o rechazada, o detectar si una transacción es fraudulenta utilizando información previamente registrada. </a:t>
            </a:r>
            <a:r>
              <a:rPr lang="es-MX" b="1" dirty="0"/>
              <a:t>Su objetivo es aprender patrones en los datos para asignar correctamente cada observación a una categoría</a:t>
            </a:r>
            <a:r>
              <a:rPr lang="es-MX" dirty="0"/>
              <a:t>, apoyando la toma de decisiones y la automatización de procesos.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965942"/>
            <a:ext cx="3868345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Clasificación</a:t>
            </a:r>
          </a:p>
          <a:p>
            <a:pPr marL="12700" algn="ctr">
              <a:lnSpc>
                <a:spcPts val="11625"/>
              </a:lnSpc>
              <a:spcBef>
                <a:spcPts val="90"/>
              </a:spcBef>
            </a:pPr>
            <a:endParaRPr lang="es-CO" sz="7200" dirty="0">
              <a:latin typeface="+mj-lt"/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DBC481-C3A8-F596-7F01-386A2DAD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533" y="4141694"/>
            <a:ext cx="10403033" cy="585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06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268135"/>
            <a:ext cx="15975107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Carga del </a:t>
            </a:r>
            <a:r>
              <a:rPr lang="es-MX" b="1" dirty="0" err="1"/>
              <a:t>Dataset</a:t>
            </a:r>
            <a:r>
              <a:rPr lang="es-MX" b="1" dirty="0"/>
              <a:t> para Entrenamiento del Modelo</a:t>
            </a:r>
          </a:p>
          <a:p>
            <a:r>
              <a:rPr lang="es-MX" b="1" dirty="0"/>
              <a:t>Cargar el </a:t>
            </a:r>
            <a:r>
              <a:rPr lang="es-MX" b="1" dirty="0" err="1"/>
              <a:t>Dataset</a:t>
            </a:r>
            <a:r>
              <a:rPr lang="es-MX" b="1" dirty="0"/>
              <a:t> de Diabetes</a:t>
            </a:r>
          </a:p>
          <a:p>
            <a:r>
              <a:rPr lang="es-MX" b="1" dirty="0"/>
              <a:t>Objetivo:</a:t>
            </a:r>
            <a:r>
              <a:rPr lang="es-MX" dirty="0"/>
              <a:t> Registrar el conjunto de datos que utilizaremos para entrenar el modelo de </a:t>
            </a:r>
            <a:r>
              <a:rPr lang="es-MX" b="1" dirty="0"/>
              <a:t>clasificación</a:t>
            </a:r>
            <a:r>
              <a:rPr lang="es-MX" dirty="0"/>
              <a:t>.</a:t>
            </a:r>
          </a:p>
          <a:p>
            <a:r>
              <a:rPr lang="es-MX" b="1" dirty="0"/>
              <a:t>Fuente de datos</a:t>
            </a:r>
          </a:p>
          <a:p>
            <a:r>
              <a:rPr lang="es-MX" b="1" dirty="0"/>
              <a:t>URL del </a:t>
            </a:r>
            <a:r>
              <a:rPr lang="es-MX" b="1" dirty="0" err="1"/>
              <a:t>dataset</a:t>
            </a:r>
            <a:r>
              <a:rPr lang="es-MX" b="1" dirty="0"/>
              <a:t>:</a:t>
            </a:r>
          </a:p>
          <a:p>
            <a:r>
              <a:rPr lang="es-MX" dirty="0">
                <a:hlinkClick r:id="rId2"/>
              </a:rPr>
              <a:t>https://raw.githubusercontent.com/MicrosoftDocs/ml-basics/refs/heads/master/data/diabetes.csv</a:t>
            </a:r>
            <a:endParaRPr lang="es-MX" dirty="0"/>
          </a:p>
          <a:p>
            <a:r>
              <a:rPr lang="es-CO" b="1" dirty="0"/>
              <a:t>Pasos</a:t>
            </a:r>
          </a:p>
          <a:p>
            <a:pPr>
              <a:buFont typeface="+mj-lt"/>
              <a:buAutoNum type="arabicPeriod"/>
            </a:pPr>
            <a:r>
              <a:rPr lang="es-CO" dirty="0"/>
              <a:t>Ir a </a:t>
            </a:r>
            <a:r>
              <a:rPr lang="es-CO" b="1" dirty="0"/>
              <a:t>Data → + </a:t>
            </a:r>
            <a:r>
              <a:rPr lang="es-CO" b="1" dirty="0" err="1"/>
              <a:t>Create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Asignar el nombre </a:t>
            </a:r>
            <a:r>
              <a:rPr lang="es-CO" b="1" dirty="0"/>
              <a:t>diabetes-data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Seleccionar </a:t>
            </a:r>
            <a:r>
              <a:rPr lang="es-CO" b="1" dirty="0" err="1"/>
              <a:t>Type</a:t>
            </a:r>
            <a:r>
              <a:rPr lang="es-CO" b="1" dirty="0"/>
              <a:t>: Tabular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Elegir </a:t>
            </a:r>
            <a:r>
              <a:rPr lang="es-CO" b="1" dirty="0" err="1"/>
              <a:t>From</a:t>
            </a:r>
            <a:r>
              <a:rPr lang="es-CO" b="1" dirty="0"/>
              <a:t> Web Files</a:t>
            </a:r>
            <a:r>
              <a:rPr lang="es-CO" dirty="0"/>
              <a:t> como origen de datos. </a:t>
            </a:r>
          </a:p>
          <a:p>
            <a:pPr>
              <a:buFont typeface="+mj-lt"/>
              <a:buAutoNum type="arabicPeriod"/>
            </a:pPr>
            <a:r>
              <a:rPr lang="es-CO" dirty="0"/>
              <a:t>Ingresar la URL del </a:t>
            </a:r>
            <a:r>
              <a:rPr lang="es-CO" dirty="0" err="1"/>
              <a:t>dataset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Configurar el archivo: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/>
              <a:t>File </a:t>
            </a:r>
            <a:r>
              <a:rPr lang="es-CO" b="1" dirty="0" err="1"/>
              <a:t>format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Delimited</a:t>
            </a:r>
            <a:r>
              <a:rPr lang="es-CO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Delimiter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Comma</a:t>
            </a:r>
            <a:r>
              <a:rPr lang="es-CO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Encoding</a:t>
            </a:r>
            <a:r>
              <a:rPr lang="es-CO" b="1" dirty="0"/>
              <a:t>:</a:t>
            </a:r>
            <a:r>
              <a:rPr lang="es-CO" dirty="0"/>
              <a:t> UTF-8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Headers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First</a:t>
            </a:r>
            <a:r>
              <a:rPr lang="es-CO" dirty="0"/>
              <a:t> </a:t>
            </a:r>
            <a:r>
              <a:rPr lang="es-CO" dirty="0" err="1"/>
              <a:t>row</a:t>
            </a:r>
            <a:r>
              <a:rPr lang="es-CO" dirty="0"/>
              <a:t> </a:t>
            </a:r>
            <a:r>
              <a:rPr lang="es-CO" dirty="0" err="1"/>
              <a:t>contains</a:t>
            </a:r>
            <a:r>
              <a:rPr lang="es-CO" dirty="0"/>
              <a:t> </a:t>
            </a:r>
            <a:r>
              <a:rPr lang="es-CO" dirty="0" err="1"/>
              <a:t>headers</a:t>
            </a:r>
            <a:r>
              <a:rPr lang="es-CO" dirty="0"/>
              <a:t> </a:t>
            </a:r>
          </a:p>
          <a:p>
            <a:pPr>
              <a:buFont typeface="+mj-lt"/>
              <a:buAutoNum type="arabicPeriod"/>
            </a:pPr>
            <a:r>
              <a:rPr lang="es-CO" dirty="0"/>
              <a:t>Revisar el esquema de columnas y verificar que la columna objetivo </a:t>
            </a:r>
            <a:r>
              <a:rPr lang="es-CO" b="1" dirty="0" err="1"/>
              <a:t>Diabetic</a:t>
            </a:r>
            <a:r>
              <a:rPr lang="es-CO" dirty="0"/>
              <a:t> esté disponible. </a:t>
            </a:r>
          </a:p>
          <a:p>
            <a:pPr>
              <a:buFont typeface="+mj-lt"/>
              <a:buAutoNum type="arabicPeriod"/>
            </a:pPr>
            <a:r>
              <a:rPr lang="es-CO" dirty="0"/>
              <a:t>Hacer clic en </a:t>
            </a:r>
            <a:r>
              <a:rPr lang="es-CO" b="1" dirty="0" err="1"/>
              <a:t>Create</a:t>
            </a:r>
            <a:r>
              <a:rPr lang="es-CO" dirty="0"/>
              <a:t>. </a:t>
            </a:r>
          </a:p>
          <a:p>
            <a:r>
              <a:rPr lang="es-CO" b="1" dirty="0"/>
              <a:t>Resultado esperado</a:t>
            </a:r>
          </a:p>
          <a:p>
            <a:r>
              <a:rPr lang="es-CO" dirty="0"/>
              <a:t>El </a:t>
            </a:r>
            <a:r>
              <a:rPr lang="es-CO" dirty="0" err="1"/>
              <a:t>dataset</a:t>
            </a:r>
            <a:r>
              <a:rPr lang="es-CO" dirty="0"/>
              <a:t> </a:t>
            </a:r>
            <a:r>
              <a:rPr lang="es-CO" b="1" dirty="0"/>
              <a:t>diabetes-data</a:t>
            </a:r>
            <a:r>
              <a:rPr lang="es-CO" dirty="0"/>
              <a:t> quedará registrado en </a:t>
            </a:r>
            <a:r>
              <a:rPr lang="es-CO" b="1" dirty="0"/>
              <a:t>Azure Machine </a:t>
            </a:r>
            <a:r>
              <a:rPr lang="es-CO" b="1" dirty="0" err="1"/>
              <a:t>Learning</a:t>
            </a:r>
            <a:r>
              <a:rPr lang="es-CO" dirty="0"/>
              <a:t> y estará disponible para construir el pipeline de entrenamiento del modelo de </a:t>
            </a:r>
            <a:r>
              <a:rPr lang="es-CO" b="1" dirty="0"/>
              <a:t>clasificación de diabetes</a:t>
            </a:r>
            <a:r>
              <a:rPr lang="es-CO" dirty="0"/>
              <a:t>.</a:t>
            </a:r>
          </a:p>
          <a:p>
            <a:endParaRPr lang="es-MX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4980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726678"/>
            <a:ext cx="1731346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Preparación y Configuración de los Datos</a:t>
            </a:r>
          </a:p>
          <a:p>
            <a:r>
              <a:rPr lang="es-MX" b="1" dirty="0"/>
              <a:t>1. Selección de variables</a:t>
            </a:r>
          </a:p>
          <a:p>
            <a:r>
              <a:rPr lang="es-MX" dirty="0"/>
              <a:t>Se seleccionan las variables clínicas que serán utilizadas para entrenar el modelo de clasificación.</a:t>
            </a:r>
          </a:p>
          <a:p>
            <a:r>
              <a:rPr lang="es-MX" b="1" dirty="0"/>
              <a:t>Variables de entrada (</a:t>
            </a:r>
            <a:r>
              <a:rPr lang="es-MX" b="1" dirty="0" err="1"/>
              <a:t>Features</a:t>
            </a:r>
            <a:r>
              <a:rPr lang="es-MX" b="1" dirty="0"/>
              <a:t>)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Pregnancies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PlasmaGlucose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DiastolicBloodPressure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TricepsThickness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SerumInsulin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BMI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DiabetesPedigree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Age </a:t>
            </a:r>
          </a:p>
          <a:p>
            <a:r>
              <a:rPr lang="es-MX" b="1" dirty="0"/>
              <a:t>Variable objetivo (</a:t>
            </a:r>
            <a:r>
              <a:rPr lang="es-MX" b="1" dirty="0" err="1"/>
              <a:t>Label</a:t>
            </a:r>
            <a:r>
              <a:rPr lang="es-MX" b="1" dirty="0"/>
              <a:t>)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Diabetic</a:t>
            </a:r>
            <a:r>
              <a:rPr lang="es-MX" dirty="0"/>
              <a:t> </a:t>
            </a:r>
          </a:p>
          <a:p>
            <a:r>
              <a:rPr lang="es-MX" dirty="0"/>
              <a:t>Esta variable indica si el paciente presenta (</a:t>
            </a:r>
            <a:r>
              <a:rPr lang="es-MX" b="1" dirty="0"/>
              <a:t>1</a:t>
            </a:r>
            <a:r>
              <a:rPr lang="es-MX" dirty="0"/>
              <a:t>) o no (</a:t>
            </a:r>
            <a:r>
              <a:rPr lang="es-MX" b="1" dirty="0"/>
              <a:t>0</a:t>
            </a:r>
            <a:r>
              <a:rPr lang="es-MX" dirty="0"/>
              <a:t>) diabetes y será la clase que aprenderá a predecir el modelo.</a:t>
            </a:r>
          </a:p>
          <a:p>
            <a:r>
              <a:rPr lang="es-MX" b="1" dirty="0"/>
              <a:t>2. Normalización de variables</a:t>
            </a:r>
          </a:p>
          <a:p>
            <a:r>
              <a:rPr lang="es-MX" dirty="0"/>
              <a:t>El componente </a:t>
            </a:r>
            <a:r>
              <a:rPr lang="es-MX" b="1" dirty="0" err="1"/>
              <a:t>Normalize</a:t>
            </a:r>
            <a:r>
              <a:rPr lang="es-MX" b="1" dirty="0"/>
              <a:t> Data</a:t>
            </a:r>
            <a:r>
              <a:rPr lang="es-MX" dirty="0"/>
              <a:t> transforma las variables numéricas utilizando el método </a:t>
            </a:r>
            <a:r>
              <a:rPr lang="es-MX" b="1" dirty="0" err="1"/>
              <a:t>MinMax</a:t>
            </a:r>
            <a:r>
              <a:rPr lang="es-MX" dirty="0"/>
              <a:t>, escalando todos los valores al mismo rango.</a:t>
            </a:r>
          </a:p>
          <a:p>
            <a:r>
              <a:rPr lang="es-MX" b="1" dirty="0"/>
              <a:t>¿Por qué normalizar?</a:t>
            </a:r>
            <a:endParaRPr lang="es-MX" dirty="0"/>
          </a:p>
          <a:p>
            <a:r>
              <a:rPr lang="es-MX" dirty="0"/>
              <a:t>La normalización evita que variables con escalas muy diferentes tengan mayor influencia durante el entrenamiento, mejorando la estabilidad y el rendimiento del modelo de clasificación.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45870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726678"/>
            <a:ext cx="1731346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3. División del conjunto de datos</a:t>
            </a:r>
          </a:p>
          <a:p>
            <a:r>
              <a:rPr lang="es-MX" dirty="0"/>
              <a:t>El componente </a:t>
            </a:r>
            <a:r>
              <a:rPr lang="es-MX" b="1" dirty="0"/>
              <a:t>Split Data</a:t>
            </a:r>
            <a:r>
              <a:rPr lang="es-MX" dirty="0"/>
              <a:t> divide el </a:t>
            </a:r>
            <a:r>
              <a:rPr lang="es-MX" dirty="0" err="1"/>
              <a:t>dataset</a:t>
            </a:r>
            <a:r>
              <a:rPr lang="es-MX" dirty="0"/>
              <a:t> para entrenar y validar el modelo.</a:t>
            </a:r>
          </a:p>
          <a:p>
            <a:r>
              <a:rPr lang="es-MX" b="1" dirty="0"/>
              <a:t>Configuración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70 %</a:t>
            </a:r>
            <a:r>
              <a:rPr lang="es-MX" dirty="0"/>
              <a:t> Entrenamiento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30 %</a:t>
            </a:r>
            <a:r>
              <a:rPr lang="es-MX" dirty="0"/>
              <a:t> Validación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r>
              <a:rPr lang="es-MX" dirty="0"/>
              <a:t>Esta separación permite evaluar el desempeño del modelo con datos que no fueron utilizados durante el entrenamiento.</a:t>
            </a:r>
            <a:r>
              <a:rPr lang="es-MX" b="1" dirty="0"/>
              <a:t> 4. Entrenamiento y evaluación</a:t>
            </a:r>
          </a:p>
          <a:p>
            <a:r>
              <a:rPr lang="es-MX" dirty="0"/>
              <a:t>Se utiliza el algoritmo </a:t>
            </a:r>
            <a:r>
              <a:rPr lang="es-MX" b="1" dirty="0" err="1"/>
              <a:t>Two-Class</a:t>
            </a:r>
            <a:r>
              <a:rPr lang="es-MX" b="1" dirty="0"/>
              <a:t> </a:t>
            </a:r>
            <a:r>
              <a:rPr lang="es-MX" b="1" dirty="0" err="1"/>
              <a:t>Logistic</a:t>
            </a:r>
            <a:r>
              <a:rPr lang="es-MX" b="1" dirty="0"/>
              <a:t> </a:t>
            </a:r>
            <a:r>
              <a:rPr lang="es-MX" b="1" dirty="0" err="1"/>
              <a:t>Regression</a:t>
            </a:r>
            <a:r>
              <a:rPr lang="es-MX" dirty="0"/>
              <a:t> para construir un modelo de clasificación binaria.</a:t>
            </a:r>
          </a:p>
          <a:p>
            <a:r>
              <a:rPr lang="es-MX" dirty="0"/>
              <a:t>Posteriormente se emplean los componentes: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r>
              <a:rPr lang="es-MX" dirty="0"/>
              <a:t>para generar las predicciones y calcular métricas como: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Accuracy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Precision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Recall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F1 Score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AUC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98572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Clasificación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AD6BA6E-791F-E8F7-5FEA-EAA78C2B99A1}"/>
              </a:ext>
            </a:extLst>
          </p:cNvPr>
          <p:cNvSpPr txBox="1"/>
          <p:nvPr/>
        </p:nvSpPr>
        <p:spPr>
          <a:xfrm>
            <a:off x="816610" y="2495775"/>
            <a:ext cx="18470880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Entrenamiento del Modelo de Clasificación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Entrenar un modelo de </a:t>
            </a:r>
            <a:r>
              <a:rPr lang="es-MX" b="1" dirty="0"/>
              <a:t>clasificación binaria</a:t>
            </a:r>
            <a:r>
              <a:rPr lang="es-MX" dirty="0"/>
              <a:t> para predecir si un paciente presenta </a:t>
            </a:r>
            <a:r>
              <a:rPr lang="es-MX" b="1" dirty="0"/>
              <a:t>diabetes (1)</a:t>
            </a:r>
            <a:r>
              <a:rPr lang="es-MX" dirty="0"/>
              <a:t> o </a:t>
            </a:r>
            <a:r>
              <a:rPr lang="es-MX" b="1" dirty="0"/>
              <a:t>no diabetes (0)</a:t>
            </a:r>
            <a:r>
              <a:rPr lang="es-MX" dirty="0"/>
              <a:t>, utilizando un conjunto de datos previamente preparado y normalizado.</a:t>
            </a:r>
          </a:p>
          <a:p>
            <a:r>
              <a:rPr lang="es-MX" b="1" dirty="0"/>
              <a:t>1. División de los datos</a:t>
            </a:r>
          </a:p>
          <a:p>
            <a:r>
              <a:rPr lang="es-MX" dirty="0"/>
              <a:t>Se incorpora el componente </a:t>
            </a:r>
            <a:r>
              <a:rPr lang="es-MX" b="1" dirty="0"/>
              <a:t>Split Data</a:t>
            </a:r>
            <a:r>
              <a:rPr lang="es-MX" dirty="0"/>
              <a:t> para separar el conjunto de datos 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Entrenamiento:</a:t>
            </a:r>
            <a:r>
              <a:rPr lang="es-MX" dirty="0"/>
              <a:t> 70%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Validación:</a:t>
            </a:r>
            <a:r>
              <a:rPr lang="es-MX" dirty="0"/>
              <a:t> 30%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Stratified</a:t>
            </a:r>
            <a:r>
              <a:rPr lang="es-MX" b="1" dirty="0"/>
              <a:t> Split:</a:t>
            </a:r>
            <a:r>
              <a:rPr lang="es-MX" dirty="0"/>
              <a:t> False </a:t>
            </a:r>
          </a:p>
          <a:p>
            <a:r>
              <a:rPr lang="es-MX" dirty="0"/>
              <a:t>Esta división permite entrenar el modelo con una parte de los datos y evaluar posteriormente su capacidad de generalización con registros no utilizados durante el entrenamiento.</a:t>
            </a:r>
          </a:p>
          <a:p>
            <a:r>
              <a:rPr lang="es-CO" b="1" dirty="0"/>
              <a:t>2. Entrenamiento del modelo</a:t>
            </a:r>
          </a:p>
          <a:p>
            <a:r>
              <a:rPr lang="es-CO" dirty="0"/>
              <a:t>Se agregan los componentes </a:t>
            </a:r>
            <a:r>
              <a:rPr lang="es-CO" b="1" dirty="0" err="1"/>
              <a:t>Two-Class</a:t>
            </a:r>
            <a:r>
              <a:rPr lang="es-CO" b="1" dirty="0"/>
              <a:t> </a:t>
            </a:r>
            <a:r>
              <a:rPr lang="es-CO" b="1" dirty="0" err="1"/>
              <a:t>Logistic</a:t>
            </a:r>
            <a:r>
              <a:rPr lang="es-CO" b="1" dirty="0"/>
              <a:t> </a:t>
            </a:r>
            <a:r>
              <a:rPr lang="es-CO" b="1" dirty="0" err="1"/>
              <a:t>Regression</a:t>
            </a:r>
            <a:r>
              <a:rPr lang="es-CO" dirty="0"/>
              <a:t> y </a:t>
            </a:r>
            <a:r>
              <a:rPr lang="es-CO" b="1" dirty="0"/>
              <a:t>Train </a:t>
            </a:r>
            <a:r>
              <a:rPr lang="es-CO" b="1" dirty="0" err="1"/>
              <a:t>Model</a:t>
            </a:r>
            <a:r>
              <a:rPr lang="es-CO" dirty="0"/>
              <a:t>, configurando </a:t>
            </a:r>
            <a:r>
              <a:rPr lang="es-CO" b="1" dirty="0" err="1"/>
              <a:t>Diabetic</a:t>
            </a:r>
            <a:r>
              <a:rPr lang="es-CO" dirty="0"/>
              <a:t> como la </a:t>
            </a:r>
            <a:r>
              <a:rPr lang="es-CO" b="1" dirty="0"/>
              <a:t>variable objetivo (</a:t>
            </a:r>
            <a:r>
              <a:rPr lang="es-CO" b="1" dirty="0" err="1"/>
              <a:t>Label</a:t>
            </a:r>
            <a:r>
              <a:rPr lang="es-CO" b="1" dirty="0"/>
              <a:t>)</a:t>
            </a:r>
            <a:r>
              <a:rPr lang="es-CO" dirty="0"/>
              <a:t>.</a:t>
            </a:r>
          </a:p>
          <a:p>
            <a:r>
              <a:rPr lang="es-CO" dirty="0"/>
              <a:t>Como variables predictoras se utilizan las características clínicas del paciente: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Pregnancies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PlasmaGlucose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DiastolicBloodPressure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TricepsThickness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SerumInsulin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/>
              <a:t>BMI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DiabetesPedigree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/>
              <a:t>Age</a:t>
            </a:r>
          </a:p>
          <a:p>
            <a:r>
              <a:rPr lang="es-MX" b="1" dirty="0"/>
              <a:t>3. Evaluación del modelo</a:t>
            </a:r>
          </a:p>
          <a:p>
            <a:r>
              <a:rPr lang="es-MX" dirty="0"/>
              <a:t>Se incorporan los componentes </a:t>
            </a: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y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generar las predicciones sobre el conjunto de validación y compararlas con los valores reales.</a:t>
            </a:r>
          </a:p>
          <a:p>
            <a:r>
              <a:rPr lang="es-MX" b="1" dirty="0"/>
              <a:t>4. Ejecución del experimento</a:t>
            </a:r>
          </a:p>
          <a:p>
            <a:r>
              <a:rPr lang="es-MX" dirty="0"/>
              <a:t>El pipeline se ejecuta utilizando el experimento </a:t>
            </a:r>
            <a:r>
              <a:rPr lang="es-MX" b="1" dirty="0" err="1"/>
              <a:t>mslearn</a:t>
            </a:r>
            <a:r>
              <a:rPr lang="es-MX" b="1" dirty="0"/>
              <a:t>-diabetes-training</a:t>
            </a:r>
            <a:r>
              <a:rPr lang="es-MX" dirty="0"/>
              <a:t>, permitiendo entrenar y evaluar el modelo de clasificación.</a:t>
            </a:r>
          </a:p>
          <a:p>
            <a:endParaRPr lang="es-CO" dirty="0"/>
          </a:p>
          <a:p>
            <a:endParaRPr lang="es-MX" dirty="0"/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273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Clasificación</a:t>
            </a:r>
            <a:endParaRPr sz="7200" dirty="0">
              <a:latin typeface="+mj-lt"/>
              <a:cs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E27CB53-C8A9-29D5-0EE1-7BFDCFCB9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01230"/>
              </p:ext>
            </p:extLst>
          </p:nvPr>
        </p:nvGraphicFramePr>
        <p:xfrm>
          <a:off x="2401168" y="3711390"/>
          <a:ext cx="15301764" cy="3905025"/>
        </p:xfrm>
        <a:graphic>
          <a:graphicData uri="http://schemas.openxmlformats.org/drawingml/2006/table">
            <a:tbl>
              <a:tblPr/>
              <a:tblGrid>
                <a:gridCol w="2170832">
                  <a:extLst>
                    <a:ext uri="{9D8B030D-6E8A-4147-A177-3AD203B41FA5}">
                      <a16:colId xmlns:a16="http://schemas.microsoft.com/office/drawing/2014/main" val="1371784987"/>
                    </a:ext>
                  </a:extLst>
                </a:gridCol>
                <a:gridCol w="2624866">
                  <a:extLst>
                    <a:ext uri="{9D8B030D-6E8A-4147-A177-3AD203B41FA5}">
                      <a16:colId xmlns:a16="http://schemas.microsoft.com/office/drawing/2014/main" val="2346301092"/>
                    </a:ext>
                  </a:extLst>
                </a:gridCol>
                <a:gridCol w="5282005">
                  <a:extLst>
                    <a:ext uri="{9D8B030D-6E8A-4147-A177-3AD203B41FA5}">
                      <a16:colId xmlns:a16="http://schemas.microsoft.com/office/drawing/2014/main" val="3993847440"/>
                    </a:ext>
                  </a:extLst>
                </a:gridCol>
                <a:gridCol w="5224061">
                  <a:extLst>
                    <a:ext uri="{9D8B030D-6E8A-4147-A177-3AD203B41FA5}">
                      <a16:colId xmlns:a16="http://schemas.microsoft.com/office/drawing/2014/main" val="691570441"/>
                    </a:ext>
                  </a:extLst>
                </a:gridCol>
              </a:tblGrid>
              <a:tr h="411055">
                <a:tc>
                  <a:txBody>
                    <a:bodyPr/>
                    <a:lstStyle/>
                    <a:p>
                      <a:r>
                        <a:rPr lang="es-CO" b="1"/>
                        <a:t>Métrica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Resultado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¿Qué responde?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Interpretación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677965"/>
                  </a:ext>
                </a:extLst>
              </a:tr>
              <a:tr h="719347">
                <a:tc>
                  <a:txBody>
                    <a:bodyPr/>
                    <a:lstStyle/>
                    <a:p>
                      <a:r>
                        <a:rPr lang="es-CO" b="1" dirty="0" err="1"/>
                        <a:t>Accuracy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78.9%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¿Qué porcentaje de todas las predicciones fueron correctas?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 cada </a:t>
                      </a:r>
                      <a:r>
                        <a:rPr lang="es-CO" b="1"/>
                        <a:t>100 pacientes</a:t>
                      </a:r>
                      <a:r>
                        <a:rPr lang="es-CO"/>
                        <a:t>, el modelo clasifica correctamente aproximadamente </a:t>
                      </a:r>
                      <a:r>
                        <a:rPr lang="es-CO" b="1"/>
                        <a:t>79</a:t>
                      </a:r>
                      <a:r>
                        <a:rPr lang="es-CO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284945"/>
                  </a:ext>
                </a:extLst>
              </a:tr>
              <a:tr h="719347">
                <a:tc>
                  <a:txBody>
                    <a:bodyPr/>
                    <a:lstStyle/>
                    <a:p>
                      <a:r>
                        <a:rPr lang="es-CO" b="1"/>
                        <a:t>Precision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71.8%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 todos los pacientes que el modelo predijo con diabetes, ¿cuántos realmente tenían diabetes?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Cuando el modelo predice </a:t>
                      </a:r>
                      <a:r>
                        <a:rPr lang="es-MX" b="1"/>
                        <a:t>"diabetes"</a:t>
                      </a:r>
                      <a:r>
                        <a:rPr lang="es-MX"/>
                        <a:t>, acierta aproximadamente </a:t>
                      </a:r>
                      <a:r>
                        <a:rPr lang="es-MX" b="1"/>
                        <a:t>7 de cada 10 veces</a:t>
                      </a:r>
                      <a:r>
                        <a:rPr lang="es-MX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197174"/>
                  </a:ext>
                </a:extLst>
              </a:tr>
              <a:tr h="1027638">
                <a:tc>
                  <a:txBody>
                    <a:bodyPr/>
                    <a:lstStyle/>
                    <a:p>
                      <a:r>
                        <a:rPr lang="es-CO" b="1" dirty="0" err="1"/>
                        <a:t>Recall</a:t>
                      </a:r>
                      <a:r>
                        <a:rPr lang="es-CO" b="1" dirty="0"/>
                        <a:t> (Sensibilidad)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/>
                        <a:t>59.0%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 todos los pacientes que realmente tenían diabetes, ¿cuántos logró identificar?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El modelo detecta aproximadamente </a:t>
                      </a:r>
                      <a:r>
                        <a:rPr lang="es-CO" b="1"/>
                        <a:t>6 de cada 10 pacientes diabéticos</a:t>
                      </a:r>
                      <a:r>
                        <a:rPr lang="es-CO"/>
                        <a:t>, dejando escapar algunos casos positivos.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911186"/>
                  </a:ext>
                </a:extLst>
              </a:tr>
              <a:tr h="1027638">
                <a:tc>
                  <a:txBody>
                    <a:bodyPr/>
                    <a:lstStyle/>
                    <a:p>
                      <a:r>
                        <a:rPr lang="es-CO" b="1" dirty="0"/>
                        <a:t>F1-Score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64.8%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¿Qué tan equilibrado es el modelo entre Precision y Recall?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Resume el desempeño general cuando ambas métricas son importantes. Un </a:t>
                      </a:r>
                      <a:r>
                        <a:rPr lang="es-MX" b="1" dirty="0"/>
                        <a:t>F1 = 0.648</a:t>
                      </a:r>
                      <a:r>
                        <a:rPr lang="es-MX" dirty="0"/>
                        <a:t> indica un modelo aceptable con margen de mejora.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2036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B086AA2A-9056-4A9C-3B81-3D507A6FC046}"/>
              </a:ext>
            </a:extLst>
          </p:cNvPr>
          <p:cNvSpPr txBox="1"/>
          <p:nvPr/>
        </p:nvSpPr>
        <p:spPr>
          <a:xfrm>
            <a:off x="2401169" y="8633923"/>
            <a:ext cx="15301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Accuracy</a:t>
            </a:r>
            <a:r>
              <a:rPr lang="es-MX" b="1" dirty="0"/>
              <a:t> = 78.9%</a:t>
            </a:r>
            <a:r>
              <a:rPr lang="es-MX" dirty="0"/>
              <a:t> indica que el modelo funciona razonablemente bien, pero el </a:t>
            </a:r>
            <a:r>
              <a:rPr lang="es-MX" b="1" dirty="0" err="1"/>
              <a:t>Recall</a:t>
            </a:r>
            <a:r>
              <a:rPr lang="es-MX" b="1" dirty="0"/>
              <a:t> = 59%</a:t>
            </a:r>
            <a:r>
              <a:rPr lang="es-MX" dirty="0"/>
              <a:t> muestra que aún deja sin detectar un número importante de pacientes con diabetes. En aplicaciones médicas, suele ser preferible aumentar el </a:t>
            </a:r>
            <a:r>
              <a:rPr lang="es-MX" b="1" dirty="0" err="1"/>
              <a:t>Recall</a:t>
            </a:r>
            <a:r>
              <a:rPr lang="es-MX" dirty="0"/>
              <a:t>, incluso si esto implica aceptar algunos falsos positivos.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37832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Calsificación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F9FF2A-8230-6599-3E49-7C145F4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963" y="3377839"/>
            <a:ext cx="7597798" cy="571549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718DFC8-E88B-F4C4-BC88-5C00DE86D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95" y="3372902"/>
            <a:ext cx="6751983" cy="572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0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2906204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Regresión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Probar el </a:t>
            </a:r>
            <a:r>
              <a:rPr lang="es-MX" b="1" dirty="0"/>
              <a:t>modelo de regresión entrenado</a:t>
            </a:r>
            <a:r>
              <a:rPr lang="es-MX" dirty="0"/>
              <a:t> utilizando nuevos automóviles y estimar automáticamente el </a:t>
            </a:r>
            <a:r>
              <a:rPr lang="es-MX" b="1" dirty="0"/>
              <a:t>precio predicho</a:t>
            </a:r>
            <a:r>
              <a:rPr lang="es-MX" dirty="0"/>
              <a:t> para cada uno de ellos.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automobile_price_raw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eliminar la variable </a:t>
            </a:r>
            <a:r>
              <a:rPr lang="es-MX" b="1" dirty="0"/>
              <a:t>Price</a:t>
            </a:r>
            <a:r>
              <a:rPr lang="es-MX" dirty="0"/>
              <a:t>, ya que es el valor que el modelo debe predecir.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automóviles.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retornar únicamente la columna </a:t>
            </a:r>
            <a:r>
              <a:rPr lang="es-MX" b="1" dirty="0" err="1"/>
              <a:t>predicted_price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134272"/>
            <a:ext cx="17459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ADBBF2-6B59-1EAE-2A54-21EF1DEAFAEF}"/>
              </a:ext>
            </a:extLst>
          </p:cNvPr>
          <p:cNvSpPr txBox="1"/>
          <p:nvPr/>
        </p:nvSpPr>
        <p:spPr>
          <a:xfrm>
            <a:off x="1322217" y="6516060"/>
            <a:ext cx="174596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symboling,normalized-losses,make,fuel-type,aspiration,num-of-doors,body-style,drive-wheels,engine-location,wheel-base,length,width,height,curb-weight,engine-type,num-of-cylinders,engine-size,fuel-system,bore,stroke,compression-ratio,horsepower,peak-rpm,city-mpg,highway-mpg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1,NaN,alfa-romero,gas,std,two,hatchback,rwd,front,94.5,171.2,65.5,52.4,2823,ohcv,six,152,mpfi,2.68,3.47,9,154,5000,19,26</a:t>
            </a:r>
          </a:p>
        </p:txBody>
      </p:sp>
    </p:spTree>
    <p:extLst>
      <p:ext uri="{BB962C8B-B14F-4D97-AF65-F5344CB8AC3E}">
        <p14:creationId xmlns:p14="http://schemas.microsoft.com/office/powerpoint/2010/main" val="4091827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0CBD7A-8700-312C-C61C-202ED8ED2E86}"/>
              </a:ext>
            </a:extLst>
          </p:cNvPr>
          <p:cNvSpPr txBox="1"/>
          <p:nvPr/>
        </p:nvSpPr>
        <p:spPr>
          <a:xfrm>
            <a:off x="1273808" y="2515354"/>
            <a:ext cx="17556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Clasificación</a:t>
            </a:r>
          </a:p>
          <a:p>
            <a:r>
              <a:rPr lang="es-MX" b="1" dirty="0"/>
              <a:t>Objetivo</a:t>
            </a:r>
            <a:endParaRPr lang="es-MX" dirty="0"/>
          </a:p>
          <a:p>
            <a:r>
              <a:rPr lang="es-MX" dirty="0"/>
              <a:t>Probar el </a:t>
            </a:r>
            <a:r>
              <a:rPr lang="es-MX" b="1" dirty="0"/>
              <a:t>modelo de clasificación entrenado</a:t>
            </a:r>
            <a:r>
              <a:rPr lang="es-MX" dirty="0"/>
              <a:t> utilizando nuevos registros de pacientes para predecir automáticamente si presentan </a:t>
            </a:r>
            <a:r>
              <a:rPr lang="es-MX" b="1" dirty="0"/>
              <a:t>diabetes (1)</a:t>
            </a:r>
            <a:r>
              <a:rPr lang="es-MX" dirty="0"/>
              <a:t> o </a:t>
            </a:r>
            <a:r>
              <a:rPr lang="es-MX" b="1" dirty="0"/>
              <a:t>no diabetes (0)</a:t>
            </a:r>
            <a:r>
              <a:rPr lang="es-MX" dirty="0"/>
              <a:t>, junto con la probabilidad asociada a cada predicción.</a:t>
            </a:r>
          </a:p>
          <a:p>
            <a:r>
              <a:rPr lang="es-MX" b="1" dirty="0"/>
              <a:t>Cambios en el Pipeline de Inferencia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b="1" dirty="0" err="1"/>
              <a:t>dataset</a:t>
            </a:r>
            <a:r>
              <a:rPr lang="es-MX" b="1" dirty="0"/>
              <a:t> diabetes-data</a:t>
            </a:r>
            <a:r>
              <a:rPr lang="es-MX" dirty="0"/>
              <a:t> utilizado durante el entrenamiento.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excluir la variable </a:t>
            </a:r>
            <a:r>
              <a:rPr lang="es-MX" b="1" dirty="0" err="1"/>
              <a:t>Diabetic</a:t>
            </a:r>
            <a:r>
              <a:rPr lang="es-MX" dirty="0"/>
              <a:t>, ya que es la etiqueta que el modelo debe predecir.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pacientes.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devolver únicamente las columnas </a:t>
            </a:r>
            <a:r>
              <a:rPr lang="es-MX" b="1" dirty="0" err="1"/>
              <a:t>DiabetesPrediction</a:t>
            </a:r>
            <a:r>
              <a:rPr lang="es-MX" dirty="0"/>
              <a:t> y </a:t>
            </a:r>
            <a:r>
              <a:rPr lang="es-MX" b="1" dirty="0" err="1"/>
              <a:t>Probability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454BA0-70CC-BA0F-14E8-9E2A754E6A8B}"/>
              </a:ext>
            </a:extLst>
          </p:cNvPr>
          <p:cNvSpPr txBox="1"/>
          <p:nvPr/>
        </p:nvSpPr>
        <p:spPr>
          <a:xfrm>
            <a:off x="1273808" y="6060148"/>
            <a:ext cx="1005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ECA59D-9050-87ED-B80E-28B5584B6183}"/>
              </a:ext>
            </a:extLst>
          </p:cNvPr>
          <p:cNvSpPr txBox="1"/>
          <p:nvPr/>
        </p:nvSpPr>
        <p:spPr>
          <a:xfrm>
            <a:off x="1273808" y="7316668"/>
            <a:ext cx="10053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PatientID,Pregnancies,PlasmaGlucose,DiastolicBloodPressure,TricepsThickness,SerumInsulin,BMI,DiabetesPedigree,Age</a:t>
            </a:r>
          </a:p>
          <a:p>
            <a:r>
              <a:rPr lang="es-CO" dirty="0"/>
              <a:t>1882185,9,104,51,7,24,27.36983156,1.350472047,43</a:t>
            </a:r>
          </a:p>
          <a:p>
            <a:r>
              <a:rPr lang="es-CO" dirty="0"/>
              <a:t>1662484,6,73,61,35,24,18.74367404,1.074147566,75</a:t>
            </a:r>
          </a:p>
          <a:p>
            <a:r>
              <a:rPr lang="es-CO" dirty="0"/>
              <a:t>1228510,4,115,50,29,243,34.69215364,0.741159926,59</a:t>
            </a:r>
          </a:p>
        </p:txBody>
      </p:sp>
    </p:spTree>
    <p:extLst>
      <p:ext uri="{BB962C8B-B14F-4D97-AF65-F5344CB8AC3E}">
        <p14:creationId xmlns:p14="http://schemas.microsoft.com/office/powerpoint/2010/main" val="2939825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CEBEC2F-A125-C14B-E658-459C24C6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245" y="2737187"/>
            <a:ext cx="7883250" cy="69218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5842231-5EFA-80A6-8815-561A90E8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346" y="4633031"/>
            <a:ext cx="3848433" cy="2667231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ADD05B4D-1FC9-BE49-D46C-9C82CCB69E77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1388280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0177707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 err="1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lang="es-CO" sz="16000" b="1" kern="0" spc="-34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0104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2524540" y="5217848"/>
            <a:ext cx="78916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</a:t>
            </a:r>
            <a:r>
              <a:rPr lang="es-MX" b="1" dirty="0" err="1"/>
              <a:t>clusterización</a:t>
            </a:r>
            <a:r>
              <a:rPr lang="es-MX" b="1" dirty="0"/>
              <a:t> permite descubrir grupos naturales dentro de un conjunto de datos sin necesidad de conocer previamente las categorías.</a:t>
            </a:r>
            <a:r>
              <a:rPr lang="es-MX" dirty="0"/>
              <a:t> Por ejemplo, una empresa puede segmentar automáticamente a sus clientes según sus hábitos de compra, preferencias o comportamiento, identificando patrones que facilitan la personalización de servicios, la optimización de recursos y una mejor toma de decisiones. A diferencia de la clasificación, aquí es el algoritmo quien descubre los grupos a partir de los datos.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2342927"/>
            <a:ext cx="386834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Clustering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1AB5E8-08EE-FD83-94FC-1D55CFFC8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259" y="3795110"/>
            <a:ext cx="7315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61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283523"/>
            <a:ext cx="15975107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Cargar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Pingüinos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Registrar el conjunto de datos que utilizaremos para entrenar el modelo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Fuente de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del </a:t>
            </a:r>
            <a:r>
              <a:rPr kumimoji="0" lang="es-CO" altLang="es-CO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https://aka.ms/penguin-data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 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nombre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penguin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Tabular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Elegir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Web Files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origen de datos.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Ingresar la URL del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Configurar el archivo: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Encoding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UTF-8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el esquema,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excluir únicamente la columna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Path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Hacer clic en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penguin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quedará registrado en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estará disponible para construir el pipeline de entrenamiento.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9284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2457309"/>
            <a:ext cx="17313462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 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Preparar el conjunto de datos para el entrenamiento del modelo de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eliminando registros incompletos y normalizando las variables numéricas.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Selección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Conservar únicamente: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CulmenLength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CulmenDepth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FlipperLength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BodyMass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Excluir: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Species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(se elimina porque en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se utilizan etiquetas conocidas; el algoritmo descubrirá los grupos automáticamente).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Tratamiento de valores faltantes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Agregar el módulo: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Clean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Configuración: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Cleaning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entire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Minimum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ratio: 0–1 (valor por defecto)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Resultado: se eliminan únicamente los registros con valores faltantes.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Normalización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Agregar el módulo: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Normalize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Configuración: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Transformation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MinMax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¿Por qué normalizar?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distancia entre observaciones es la base del algoritmo K-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Means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Al normalizar, todas las variables quedan en la misma escala y ninguna domina el proceso de agrupamiento por tener valores numéricos más grandes.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Envío del experimento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nombre:mslearn-penguin-training</a:t>
            </a: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Normalización de los Datos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5187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288304"/>
            <a:ext cx="1731346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Objetivo: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Entrenar un modelo de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clusterización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el algoritmo 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validar los grupos encontrados.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División de los datos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el módulo Split Data.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Configuración: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Train: 70%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Test: 30% </a:t>
            </a:r>
          </a:p>
          <a:p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seed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123 </a:t>
            </a:r>
          </a:p>
          <a:p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Stratified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False 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Entrenamiento del modelo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los módulos: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Configuración: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centroides (K): 3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Variables: Todas las variables seleccionadas 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Asignación de 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endParaRPr lang="es-CO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el módulo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predecir el grupo de cada observación utilizando el 30% de los datos de prueba.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Ejecutar el experimento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Ejecutar el pipeline utilizando el experimento: 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mslearn</a:t>
            </a:r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penguin</a:t>
            </a:r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-training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 esperado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la salida del módulo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verificar la columna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donde cada observación queda asignada automáticamente a uno de los 3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generados por el algoritmo 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(K-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Means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)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7817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C29661A-7290-9B88-A9BE-D5E3A0E31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401"/>
              </p:ext>
            </p:extLst>
          </p:nvPr>
        </p:nvGraphicFramePr>
        <p:xfrm>
          <a:off x="1004886" y="6485127"/>
          <a:ext cx="18094326" cy="2103120"/>
        </p:xfrm>
        <a:graphic>
          <a:graphicData uri="http://schemas.openxmlformats.org/drawingml/2006/table">
            <a:tbl>
              <a:tblPr/>
              <a:tblGrid>
                <a:gridCol w="3715414">
                  <a:extLst>
                    <a:ext uri="{9D8B030D-6E8A-4147-A177-3AD203B41FA5}">
                      <a16:colId xmlns:a16="http://schemas.microsoft.com/office/drawing/2014/main" val="3034542721"/>
                    </a:ext>
                  </a:extLst>
                </a:gridCol>
                <a:gridCol w="6960197">
                  <a:extLst>
                    <a:ext uri="{9D8B030D-6E8A-4147-A177-3AD203B41FA5}">
                      <a16:colId xmlns:a16="http://schemas.microsoft.com/office/drawing/2014/main" val="1635260523"/>
                    </a:ext>
                  </a:extLst>
                </a:gridCol>
                <a:gridCol w="7418715">
                  <a:extLst>
                    <a:ext uri="{9D8B030D-6E8A-4147-A177-3AD203B41FA5}">
                      <a16:colId xmlns:a16="http://schemas.microsoft.com/office/drawing/2014/main" val="2248474230"/>
                    </a:ext>
                  </a:extLst>
                </a:gridCol>
              </a:tblGrid>
              <a:tr h="333984">
                <a:tc>
                  <a:txBody>
                    <a:bodyPr/>
                    <a:lstStyle/>
                    <a:p>
                      <a:r>
                        <a:rPr lang="es-CO" sz="1800"/>
                        <a:t>Métrica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¿Qué significa?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¿Qué buscamos?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01097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n-US" sz="1800" b="1" dirty="0"/>
                        <a:t>Average Distance to Cluster Center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Distancia promedio de los puntos al centro de su propio </a:t>
                      </a:r>
                      <a:r>
                        <a:rPr lang="es-MX" sz="1800" dirty="0" err="1"/>
                        <a:t>cluster</a:t>
                      </a:r>
                      <a:r>
                        <a:rPr lang="es-MX" sz="18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que los elementos son similares entre sí.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162866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n-US" sz="1800" b="1" dirty="0"/>
                        <a:t>Average Distance to Other Center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Distancia promedio de los puntos a los centroides de los demás clusters.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Mientras mayor, mejor.</a:t>
                      </a:r>
                      <a:r>
                        <a:rPr lang="es-MX" sz="1800" dirty="0"/>
                        <a:t> Indica que los grupos están bien separados.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7047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Number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of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Points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Cantidad de observaciones asignadas a cada cluster.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Permite verificar el tamaño de cada grupo.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085905"/>
                  </a:ext>
                </a:extLst>
              </a:tr>
              <a:tr h="584471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Maximal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Distance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to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Cluster</a:t>
                      </a:r>
                      <a:r>
                        <a:rPr lang="es-CO" sz="1800" b="1" dirty="0"/>
                        <a:t> Center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Mayor distancia de un punto respecto al centro de su cluster.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Mientras menor, mejor.</a:t>
                      </a:r>
                      <a:r>
                        <a:rPr lang="es-MX" sz="1800" dirty="0"/>
                        <a:t> Un valor alto puede indicar un posible </a:t>
                      </a:r>
                      <a:r>
                        <a:rPr lang="es-MX" sz="1800" dirty="0" err="1"/>
                        <a:t>outlier</a:t>
                      </a:r>
                      <a:r>
                        <a:rPr lang="es-MX" sz="1800" dirty="0"/>
                        <a:t> o un </a:t>
                      </a:r>
                      <a:r>
                        <a:rPr lang="es-MX" sz="1800" dirty="0" err="1"/>
                        <a:t>cluster</a:t>
                      </a:r>
                      <a:r>
                        <a:rPr lang="es-MX" sz="1800" dirty="0"/>
                        <a:t> muy disperso.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92811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7812FB2F-E207-136B-A8B4-34412280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634" y="3979239"/>
            <a:ext cx="7978831" cy="1920406"/>
          </a:xfrm>
          <a:prstGeom prst="rect">
            <a:avLst/>
          </a:prstGeom>
        </p:spPr>
      </p:pic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92585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>
            <a:extLst>
              <a:ext uri="{FF2B5EF4-FFF2-40B4-BE49-F238E27FC236}">
                <a16:creationId xmlns:a16="http://schemas.microsoft.com/office/drawing/2014/main" id="{4787312F-4337-8EEC-60AE-E49F0DDE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85" y="8161164"/>
            <a:ext cx="182063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Interpretación de tus resultados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0: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47 observaciones. Muy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0.194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y bien separado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0.431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33 observaciones. Es el mejor separado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0.725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aunque ligeramente menos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0.220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23 observaciones. Es el menos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0.256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pero sigue mostrando una buena separación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0.469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modelo obtuvo una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buena segmentación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porque, en los tres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la distancia promedio al propio centro es considerablemente menor que la distancia a los demás centroides. Esto indica que los grupos encontrados son coherentes y están razonablemente bien separados, lo que sugiere que el algoritmo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K-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identificó patrones naturales en los datos de los pingüinos.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5CA9E3-DC1F-BBC7-50B2-C2061B90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490" y="2345777"/>
            <a:ext cx="4839119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13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2906204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  <a:p>
            <a:r>
              <a:rPr lang="es-MX" b="1" dirty="0"/>
              <a:t>Inferencia del Modelo de </a:t>
            </a:r>
            <a:r>
              <a:rPr lang="es-MX" b="1" dirty="0" err="1"/>
              <a:t>Clusterización</a:t>
            </a:r>
            <a:endParaRPr lang="es-MX" b="1" dirty="0"/>
          </a:p>
          <a:p>
            <a:r>
              <a:rPr lang="es-MX" b="1" dirty="0"/>
              <a:t>Objetivo:</a:t>
            </a:r>
            <a:r>
              <a:rPr lang="es-MX" dirty="0"/>
              <a:t> Probar el modelo entrenado utilizando nuevas observaciones y verificar el </a:t>
            </a:r>
            <a:r>
              <a:rPr lang="es-MX" dirty="0" err="1"/>
              <a:t>cluster</a:t>
            </a:r>
            <a:r>
              <a:rPr lang="es-MX" dirty="0"/>
              <a:t> asignado a cada una.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penguin</a:t>
            </a:r>
            <a:r>
              <a:rPr lang="es-MX" b="1" dirty="0"/>
              <a:t>-data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Apply</a:t>
            </a:r>
            <a:r>
              <a:rPr lang="es-MX" b="1" dirty="0"/>
              <a:t> </a:t>
            </a:r>
            <a:r>
              <a:rPr lang="es-MX" b="1" dirty="0" err="1"/>
              <a:t>Transformation</a:t>
            </a:r>
            <a:r>
              <a:rPr lang="es-MX" dirty="0"/>
              <a:t>. </a:t>
            </a:r>
          </a:p>
          <a:p>
            <a:r>
              <a:rPr lang="es-MX" b="1" dirty="0"/>
              <a:t>Datos de prueba (CSV)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231085"/>
            <a:ext cx="174596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CulmenLength,CulmenDepth,FlipperLength,BodyMass</a:t>
            </a:r>
            <a:endParaRPr lang="es-CO" dirty="0"/>
          </a:p>
          <a:p>
            <a:r>
              <a:rPr lang="es-CO" dirty="0"/>
              <a:t>39.1,18.7,181,3750</a:t>
            </a:r>
          </a:p>
          <a:p>
            <a:r>
              <a:rPr lang="es-CO" dirty="0"/>
              <a:t>49.1,14.8,220,5150</a:t>
            </a:r>
          </a:p>
          <a:p>
            <a:r>
              <a:rPr lang="es-CO" dirty="0"/>
              <a:t>46.6,17.8,193,3800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E126766-45DA-2143-93F2-6297233A69A2}"/>
              </a:ext>
            </a:extLst>
          </p:cNvPr>
          <p:cNvSpPr txBox="1"/>
          <p:nvPr/>
        </p:nvSpPr>
        <p:spPr>
          <a:xfrm>
            <a:off x="1322217" y="7985413"/>
            <a:ext cx="17459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Resultado esperado</a:t>
            </a:r>
          </a:p>
          <a:p>
            <a:r>
              <a:rPr lang="es-CO" dirty="0"/>
              <a:t>Visualizar la salida de </a:t>
            </a:r>
            <a:r>
              <a:rPr lang="es-CO" b="1" dirty="0" err="1"/>
              <a:t>Assign</a:t>
            </a:r>
            <a:r>
              <a:rPr lang="es-CO" b="1" dirty="0"/>
              <a:t> Data </a:t>
            </a:r>
            <a:r>
              <a:rPr lang="es-CO" b="1" dirty="0" err="1"/>
              <a:t>to</a:t>
            </a:r>
            <a:r>
              <a:rPr lang="es-CO" b="1" dirty="0"/>
              <a:t> </a:t>
            </a:r>
            <a:r>
              <a:rPr lang="es-CO" b="1" dirty="0" err="1"/>
              <a:t>Clusters</a:t>
            </a:r>
            <a:r>
              <a:rPr lang="es-CO" dirty="0"/>
              <a:t> para identificar el </a:t>
            </a:r>
            <a:r>
              <a:rPr lang="es-CO" b="1" dirty="0" err="1"/>
              <a:t>cluster</a:t>
            </a:r>
            <a:r>
              <a:rPr lang="es-CO" b="1" dirty="0"/>
              <a:t> asignado</a:t>
            </a:r>
            <a:r>
              <a:rPr lang="es-CO" dirty="0"/>
              <a:t> a cada nuevo registro.</a:t>
            </a:r>
          </a:p>
        </p:txBody>
      </p:sp>
    </p:spTree>
    <p:extLst>
      <p:ext uri="{BB962C8B-B14F-4D97-AF65-F5344CB8AC3E}">
        <p14:creationId xmlns:p14="http://schemas.microsoft.com/office/powerpoint/2010/main" val="32471747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437733-A029-A13A-D902-20FC04CF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9" y="3030641"/>
            <a:ext cx="9714156" cy="58436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AD6DAC-7393-5868-9D54-5E3D7F3D0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417" y="6480470"/>
            <a:ext cx="9449619" cy="17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07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2569860" y="4942076"/>
            <a:ext cx="3701846" cy="1425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8800" b="1" spc="-600" dirty="0">
                <a:solidFill>
                  <a:srgbClr val="1F3D6F"/>
                </a:solidFill>
                <a:latin typeface="+mj-lt"/>
                <a:cs typeface="Arial"/>
              </a:rPr>
              <a:t>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4CAC8-1AF8-0C82-42EE-4154F945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45" y="1383328"/>
            <a:ext cx="8857952" cy="88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110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1950</TotalTime>
  <Words>6127</Words>
  <Application>Microsoft Office PowerPoint</Application>
  <PresentationFormat>Personalizado</PresentationFormat>
  <Paragraphs>734</Paragraphs>
  <Slides>54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Times New Roman</vt:lpstr>
      <vt:lpstr>Office Theme</vt:lpstr>
      <vt:lpstr>Inteligencia Artificial y Machine Learning Aplicados a la Manufactura de Transformadores Eléctricos: De los Fundamentos a la Implementación de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Componentes Básicos para Crear Experimentos en Azure ML</vt:lpstr>
      <vt:lpstr>Presentación de PowerPoint</vt:lpstr>
      <vt:lpstr>Auto ML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Sebastian Rivera García</dc:creator>
  <cp:lastModifiedBy>Usuario</cp:lastModifiedBy>
  <cp:revision>49</cp:revision>
  <dcterms:modified xsi:type="dcterms:W3CDTF">2026-08-03T17:09:07Z</dcterms:modified>
</cp:coreProperties>
</file>