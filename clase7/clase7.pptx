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8" r:id="rId3"/>
    <p:sldId id="389" r:id="rId4"/>
    <p:sldId id="390" r:id="rId5"/>
    <p:sldId id="391" r:id="rId6"/>
    <p:sldId id="393" r:id="rId7"/>
    <p:sldId id="392" r:id="rId8"/>
    <p:sldId id="396" r:id="rId9"/>
    <p:sldId id="397" r:id="rId10"/>
    <p:sldId id="394" r:id="rId11"/>
    <p:sldId id="399" r:id="rId12"/>
    <p:sldId id="398" r:id="rId13"/>
    <p:sldId id="400" r:id="rId14"/>
    <p:sldId id="401" r:id="rId15"/>
    <p:sldId id="402" r:id="rId16"/>
    <p:sldId id="403" r:id="rId17"/>
    <p:sldId id="405" r:id="rId18"/>
    <p:sldId id="411" r:id="rId19"/>
    <p:sldId id="410" r:id="rId20"/>
    <p:sldId id="412" r:id="rId21"/>
    <p:sldId id="414" r:id="rId22"/>
    <p:sldId id="415" r:id="rId23"/>
    <p:sldId id="416" r:id="rId24"/>
    <p:sldId id="417" r:id="rId25"/>
    <p:sldId id="408" r:id="rId26"/>
    <p:sldId id="368" r:id="rId27"/>
    <p:sldId id="276" r:id="rId28"/>
  </p:sldIdLst>
  <p:sldSz cx="20104100" cy="11309350"/>
  <p:notesSz cx="20104100" cy="1130935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99" autoAdjust="0"/>
    <p:restoredTop sz="94660"/>
  </p:normalViewPr>
  <p:slideViewPr>
    <p:cSldViewPr snapToGrid="0">
      <p:cViewPr>
        <p:scale>
          <a:sx n="60" d="100"/>
          <a:sy n="60" d="100"/>
        </p:scale>
        <p:origin x="42" y="4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29493" y="2424025"/>
            <a:ext cx="3445113" cy="153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7269" y="2511719"/>
            <a:ext cx="3209561" cy="186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94"/>
            <a:ext cx="20104099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386904" y="8427607"/>
            <a:ext cx="5717540" cy="2183130"/>
          </a:xfrm>
          <a:custGeom>
            <a:avLst/>
            <a:gdLst/>
            <a:ahLst/>
            <a:cxnLst/>
            <a:rect l="l" t="t" r="r" b="b"/>
            <a:pathLst>
              <a:path w="5717540" h="2183129">
                <a:moveTo>
                  <a:pt x="5717187" y="0"/>
                </a:moveTo>
                <a:lnTo>
                  <a:pt x="0" y="0"/>
                </a:lnTo>
                <a:lnTo>
                  <a:pt x="188475" y="2182875"/>
                </a:lnTo>
                <a:lnTo>
                  <a:pt x="5717187" y="2182875"/>
                </a:lnTo>
                <a:lnTo>
                  <a:pt x="5717187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1651" y="10546632"/>
            <a:ext cx="117550" cy="252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3398" y="1051695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162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3396" y="10080334"/>
            <a:ext cx="113779" cy="403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3396" y="9907438"/>
            <a:ext cx="113776" cy="1234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3398" y="9869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3399" y="9717970"/>
            <a:ext cx="113776" cy="114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3396" y="968171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79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3396" y="9619484"/>
            <a:ext cx="21590" cy="48260"/>
          </a:xfrm>
          <a:custGeom>
            <a:avLst/>
            <a:gdLst/>
            <a:ahLst/>
            <a:cxnLst/>
            <a:rect l="l" t="t" r="r" b="b"/>
            <a:pathLst>
              <a:path w="21590" h="48259">
                <a:moveTo>
                  <a:pt x="0" y="48260"/>
                </a:moveTo>
                <a:lnTo>
                  <a:pt x="20983" y="48260"/>
                </a:lnTo>
                <a:lnTo>
                  <a:pt x="20983" y="0"/>
                </a:lnTo>
                <a:lnTo>
                  <a:pt x="0" y="0"/>
                </a:lnTo>
                <a:lnTo>
                  <a:pt x="0" y="48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7562" y="9621759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20">
                <a:moveTo>
                  <a:pt x="21140" y="0"/>
                </a:moveTo>
                <a:lnTo>
                  <a:pt x="0" y="0"/>
                </a:lnTo>
                <a:lnTo>
                  <a:pt x="0" y="45454"/>
                </a:lnTo>
                <a:lnTo>
                  <a:pt x="21140" y="45454"/>
                </a:lnTo>
                <a:lnTo>
                  <a:pt x="21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5875" y="9618262"/>
            <a:ext cx="21590" cy="49530"/>
          </a:xfrm>
          <a:custGeom>
            <a:avLst/>
            <a:gdLst/>
            <a:ahLst/>
            <a:cxnLst/>
            <a:rect l="l" t="t" r="r" b="b"/>
            <a:pathLst>
              <a:path w="21590" h="49529">
                <a:moveTo>
                  <a:pt x="21297" y="0"/>
                </a:moveTo>
                <a:lnTo>
                  <a:pt x="0" y="0"/>
                </a:lnTo>
                <a:lnTo>
                  <a:pt x="0" y="48951"/>
                </a:lnTo>
                <a:lnTo>
                  <a:pt x="21297" y="48951"/>
                </a:lnTo>
                <a:lnTo>
                  <a:pt x="21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3396" y="9488307"/>
            <a:ext cx="114300" cy="111760"/>
          </a:xfrm>
          <a:custGeom>
            <a:avLst/>
            <a:gdLst/>
            <a:ahLst/>
            <a:cxnLst/>
            <a:rect l="l" t="t" r="r" b="b"/>
            <a:pathLst>
              <a:path w="114300" h="111759">
                <a:moveTo>
                  <a:pt x="56856" y="0"/>
                </a:moveTo>
                <a:lnTo>
                  <a:pt x="16186" y="17004"/>
                </a:lnTo>
                <a:lnTo>
                  <a:pt x="696" y="52799"/>
                </a:lnTo>
                <a:lnTo>
                  <a:pt x="0" y="69045"/>
                </a:lnTo>
                <a:lnTo>
                  <a:pt x="0" y="111734"/>
                </a:lnTo>
                <a:lnTo>
                  <a:pt x="113776" y="111734"/>
                </a:lnTo>
                <a:lnTo>
                  <a:pt x="113776" y="83274"/>
                </a:lnTo>
                <a:lnTo>
                  <a:pt x="23025" y="83274"/>
                </a:lnTo>
                <a:lnTo>
                  <a:pt x="23125" y="60877"/>
                </a:lnTo>
                <a:lnTo>
                  <a:pt x="49718" y="29848"/>
                </a:lnTo>
                <a:lnTo>
                  <a:pt x="56856" y="29276"/>
                </a:lnTo>
                <a:lnTo>
                  <a:pt x="106856" y="29276"/>
                </a:lnTo>
                <a:lnTo>
                  <a:pt x="105159" y="26596"/>
                </a:lnTo>
                <a:lnTo>
                  <a:pt x="71357" y="1710"/>
                </a:lnTo>
                <a:lnTo>
                  <a:pt x="64282" y="427"/>
                </a:lnTo>
                <a:lnTo>
                  <a:pt x="56856" y="0"/>
                </a:lnTo>
                <a:close/>
              </a:path>
              <a:path w="114300" h="111759">
                <a:moveTo>
                  <a:pt x="106856" y="29276"/>
                </a:moveTo>
                <a:lnTo>
                  <a:pt x="56856" y="29276"/>
                </a:lnTo>
                <a:lnTo>
                  <a:pt x="63991" y="29848"/>
                </a:lnTo>
                <a:lnTo>
                  <a:pt x="70441" y="31563"/>
                </a:lnTo>
                <a:lnTo>
                  <a:pt x="90761" y="83274"/>
                </a:lnTo>
                <a:lnTo>
                  <a:pt x="113776" y="83274"/>
                </a:lnTo>
                <a:lnTo>
                  <a:pt x="111787" y="42773"/>
                </a:lnTo>
                <a:lnTo>
                  <a:pt x="108248" y="31475"/>
                </a:lnTo>
                <a:lnTo>
                  <a:pt x="106856" y="29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3398" y="9364701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4" h="107950">
                <a:moveTo>
                  <a:pt x="65139" y="0"/>
                </a:moveTo>
                <a:lnTo>
                  <a:pt x="0" y="0"/>
                </a:lnTo>
                <a:lnTo>
                  <a:pt x="0" y="28459"/>
                </a:lnTo>
                <a:lnTo>
                  <a:pt x="73107" y="28459"/>
                </a:lnTo>
                <a:lnTo>
                  <a:pt x="80060" y="30606"/>
                </a:lnTo>
                <a:lnTo>
                  <a:pt x="89599" y="39171"/>
                </a:lnTo>
                <a:lnTo>
                  <a:pt x="91976" y="45401"/>
                </a:lnTo>
                <a:lnTo>
                  <a:pt x="91976" y="61830"/>
                </a:lnTo>
                <a:lnTo>
                  <a:pt x="89578" y="68113"/>
                </a:lnTo>
                <a:lnTo>
                  <a:pt x="79987" y="76793"/>
                </a:lnTo>
                <a:lnTo>
                  <a:pt x="73055" y="78960"/>
                </a:lnTo>
                <a:lnTo>
                  <a:pt x="0" y="78960"/>
                </a:lnTo>
                <a:lnTo>
                  <a:pt x="0" y="107588"/>
                </a:lnTo>
                <a:lnTo>
                  <a:pt x="65139" y="107588"/>
                </a:lnTo>
                <a:lnTo>
                  <a:pt x="76440" y="106701"/>
                </a:lnTo>
                <a:lnTo>
                  <a:pt x="108289" y="85603"/>
                </a:lnTo>
                <a:lnTo>
                  <a:pt x="115807" y="53841"/>
                </a:lnTo>
                <a:lnTo>
                  <a:pt x="114973" y="41815"/>
                </a:lnTo>
                <a:lnTo>
                  <a:pt x="95087" y="7982"/>
                </a:lnTo>
                <a:lnTo>
                  <a:pt x="76440" y="887"/>
                </a:lnTo>
                <a:lnTo>
                  <a:pt x="6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1475" y="9243452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90" y="54629"/>
                </a:lnTo>
                <a:lnTo>
                  <a:pt x="24956" y="95279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50" y="87536"/>
                </a:lnTo>
                <a:lnTo>
                  <a:pt x="110662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3" y="47113"/>
                </a:lnTo>
                <a:lnTo>
                  <a:pt x="23797" y="38951"/>
                </a:lnTo>
                <a:lnTo>
                  <a:pt x="23797" y="32606"/>
                </a:lnTo>
                <a:lnTo>
                  <a:pt x="24813" y="26260"/>
                </a:lnTo>
                <a:lnTo>
                  <a:pt x="28812" y="13580"/>
                </a:lnTo>
                <a:lnTo>
                  <a:pt x="31859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95"/>
                </a:lnTo>
                <a:lnTo>
                  <a:pt x="92695" y="27454"/>
                </a:lnTo>
                <a:lnTo>
                  <a:pt x="93824" y="33883"/>
                </a:lnTo>
                <a:lnTo>
                  <a:pt x="93899" y="41150"/>
                </a:lnTo>
                <a:lnTo>
                  <a:pt x="93305" y="48713"/>
                </a:lnTo>
                <a:lnTo>
                  <a:pt x="58937" y="75955"/>
                </a:lnTo>
                <a:lnTo>
                  <a:pt x="110662" y="75955"/>
                </a:lnTo>
                <a:lnTo>
                  <a:pt x="110957" y="75474"/>
                </a:lnTo>
                <a:lnTo>
                  <a:pt x="11638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3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7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3395" y="9114305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113776" y="0"/>
                </a:moveTo>
                <a:lnTo>
                  <a:pt x="0" y="44323"/>
                </a:lnTo>
                <a:lnTo>
                  <a:pt x="0" y="77180"/>
                </a:lnTo>
                <a:lnTo>
                  <a:pt x="113776" y="126781"/>
                </a:lnTo>
                <a:lnTo>
                  <a:pt x="113776" y="96447"/>
                </a:lnTo>
                <a:lnTo>
                  <a:pt x="91662" y="87348"/>
                </a:lnTo>
                <a:lnTo>
                  <a:pt x="91662" y="79128"/>
                </a:lnTo>
                <a:lnTo>
                  <a:pt x="72144" y="79128"/>
                </a:lnTo>
                <a:lnTo>
                  <a:pt x="28878" y="61485"/>
                </a:lnTo>
                <a:lnTo>
                  <a:pt x="72144" y="45548"/>
                </a:lnTo>
                <a:lnTo>
                  <a:pt x="91662" y="45548"/>
                </a:lnTo>
                <a:lnTo>
                  <a:pt x="91662" y="38302"/>
                </a:lnTo>
                <a:lnTo>
                  <a:pt x="113776" y="30177"/>
                </a:lnTo>
                <a:lnTo>
                  <a:pt x="113776" y="0"/>
                </a:lnTo>
                <a:close/>
              </a:path>
              <a:path w="114300" h="127000">
                <a:moveTo>
                  <a:pt x="91662" y="45548"/>
                </a:moveTo>
                <a:lnTo>
                  <a:pt x="72144" y="45548"/>
                </a:lnTo>
                <a:lnTo>
                  <a:pt x="72144" y="79128"/>
                </a:lnTo>
                <a:lnTo>
                  <a:pt x="91662" y="79128"/>
                </a:lnTo>
                <a:lnTo>
                  <a:pt x="91662" y="45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91476" y="9009815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1" y="973"/>
                </a:moveTo>
                <a:lnTo>
                  <a:pt x="729" y="27119"/>
                </a:lnTo>
                <a:lnTo>
                  <a:pt x="0" y="41150"/>
                </a:lnTo>
                <a:lnTo>
                  <a:pt x="990" y="54625"/>
                </a:lnTo>
                <a:lnTo>
                  <a:pt x="24955" y="95273"/>
                </a:lnTo>
                <a:lnTo>
                  <a:pt x="58936" y="105221"/>
                </a:lnTo>
                <a:lnTo>
                  <a:pt x="67334" y="105221"/>
                </a:lnTo>
                <a:lnTo>
                  <a:pt x="101749" y="87536"/>
                </a:lnTo>
                <a:lnTo>
                  <a:pt x="110668" y="75945"/>
                </a:lnTo>
                <a:lnTo>
                  <a:pt x="58936" y="75945"/>
                </a:lnTo>
                <a:lnTo>
                  <a:pt x="51164" y="75328"/>
                </a:lnTo>
                <a:lnTo>
                  <a:pt x="24383" y="47113"/>
                </a:lnTo>
                <a:lnTo>
                  <a:pt x="23796" y="38951"/>
                </a:lnTo>
                <a:lnTo>
                  <a:pt x="23796" y="32606"/>
                </a:lnTo>
                <a:lnTo>
                  <a:pt x="24812" y="26260"/>
                </a:lnTo>
                <a:lnTo>
                  <a:pt x="28812" y="13580"/>
                </a:lnTo>
                <a:lnTo>
                  <a:pt x="31859" y="7256"/>
                </a:lnTo>
                <a:lnTo>
                  <a:pt x="35921" y="973"/>
                </a:lnTo>
                <a:close/>
              </a:path>
              <a:path w="118109" h="105409">
                <a:moveTo>
                  <a:pt x="106181" y="0"/>
                </a:moveTo>
                <a:lnTo>
                  <a:pt x="79585" y="0"/>
                </a:lnTo>
                <a:lnTo>
                  <a:pt x="84307" y="6827"/>
                </a:lnTo>
                <a:lnTo>
                  <a:pt x="87867" y="13685"/>
                </a:lnTo>
                <a:lnTo>
                  <a:pt x="92695" y="27454"/>
                </a:lnTo>
                <a:lnTo>
                  <a:pt x="93823" y="33883"/>
                </a:lnTo>
                <a:lnTo>
                  <a:pt x="93899" y="41150"/>
                </a:lnTo>
                <a:lnTo>
                  <a:pt x="93304" y="48709"/>
                </a:lnTo>
                <a:lnTo>
                  <a:pt x="58936" y="75945"/>
                </a:lnTo>
                <a:lnTo>
                  <a:pt x="110668" y="75945"/>
                </a:lnTo>
                <a:lnTo>
                  <a:pt x="110956" y="75474"/>
                </a:lnTo>
                <a:lnTo>
                  <a:pt x="116380" y="60574"/>
                </a:lnTo>
                <a:lnTo>
                  <a:pt x="117730" y="52396"/>
                </a:lnTo>
                <a:lnTo>
                  <a:pt x="117730" y="35642"/>
                </a:lnTo>
                <a:lnTo>
                  <a:pt x="116778" y="28135"/>
                </a:lnTo>
                <a:lnTo>
                  <a:pt x="113020" y="13947"/>
                </a:lnTo>
                <a:lnTo>
                  <a:pt x="112887" y="13580"/>
                </a:lnTo>
                <a:lnTo>
                  <a:pt x="110087" y="6827"/>
                </a:lnTo>
                <a:lnTo>
                  <a:pt x="106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93398" y="89774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4113" y="8821721"/>
            <a:ext cx="155575" cy="123825"/>
          </a:xfrm>
          <a:custGeom>
            <a:avLst/>
            <a:gdLst/>
            <a:ahLst/>
            <a:cxnLst/>
            <a:rect l="l" t="t" r="r" b="b"/>
            <a:pathLst>
              <a:path w="155575" h="123825">
                <a:moveTo>
                  <a:pt x="0" y="39182"/>
                </a:moveTo>
                <a:lnTo>
                  <a:pt x="0" y="57244"/>
                </a:lnTo>
                <a:lnTo>
                  <a:pt x="28313" y="73830"/>
                </a:lnTo>
                <a:lnTo>
                  <a:pt x="28313" y="63181"/>
                </a:lnTo>
                <a:lnTo>
                  <a:pt x="0" y="39182"/>
                </a:lnTo>
                <a:close/>
              </a:path>
              <a:path w="155575" h="123825">
                <a:moveTo>
                  <a:pt x="104698" y="0"/>
                </a:moveTo>
                <a:lnTo>
                  <a:pt x="87840" y="0"/>
                </a:lnTo>
                <a:lnTo>
                  <a:pt x="80018" y="1497"/>
                </a:lnTo>
                <a:lnTo>
                  <a:pt x="48239" y="23559"/>
                </a:lnTo>
                <a:lnTo>
                  <a:pt x="37568" y="52501"/>
                </a:lnTo>
                <a:lnTo>
                  <a:pt x="37577" y="71442"/>
                </a:lnTo>
                <a:lnTo>
                  <a:pt x="59244" y="111849"/>
                </a:lnTo>
                <a:lnTo>
                  <a:pt x="87840" y="123765"/>
                </a:lnTo>
                <a:lnTo>
                  <a:pt x="104698" y="123765"/>
                </a:lnTo>
                <a:lnTo>
                  <a:pt x="144225" y="100143"/>
                </a:lnTo>
                <a:lnTo>
                  <a:pt x="147748" y="94489"/>
                </a:lnTo>
                <a:lnTo>
                  <a:pt x="96300" y="94489"/>
                </a:lnTo>
                <a:lnTo>
                  <a:pt x="88997" y="93916"/>
                </a:lnTo>
                <a:lnTo>
                  <a:pt x="61327" y="71442"/>
                </a:lnTo>
                <a:lnTo>
                  <a:pt x="61327" y="52501"/>
                </a:lnTo>
                <a:lnTo>
                  <a:pt x="96300" y="29433"/>
                </a:lnTo>
                <a:lnTo>
                  <a:pt x="147772" y="29433"/>
                </a:lnTo>
                <a:lnTo>
                  <a:pt x="144163" y="23622"/>
                </a:lnTo>
                <a:lnTo>
                  <a:pt x="138739" y="17810"/>
                </a:lnTo>
                <a:lnTo>
                  <a:pt x="133221" y="11957"/>
                </a:lnTo>
                <a:lnTo>
                  <a:pt x="126865" y="7518"/>
                </a:lnTo>
                <a:lnTo>
                  <a:pt x="112499" y="1497"/>
                </a:lnTo>
                <a:lnTo>
                  <a:pt x="104698" y="0"/>
                </a:lnTo>
                <a:close/>
              </a:path>
              <a:path w="155575" h="123825">
                <a:moveTo>
                  <a:pt x="147772" y="29433"/>
                </a:moveTo>
                <a:lnTo>
                  <a:pt x="96300" y="29433"/>
                </a:lnTo>
                <a:lnTo>
                  <a:pt x="103564" y="30005"/>
                </a:lnTo>
                <a:lnTo>
                  <a:pt x="110153" y="31720"/>
                </a:lnTo>
                <a:lnTo>
                  <a:pt x="116067" y="34579"/>
                </a:lnTo>
                <a:lnTo>
                  <a:pt x="121305" y="38585"/>
                </a:lnTo>
                <a:lnTo>
                  <a:pt x="127839" y="44700"/>
                </a:lnTo>
                <a:lnTo>
                  <a:pt x="131105" y="52501"/>
                </a:lnTo>
                <a:lnTo>
                  <a:pt x="131105" y="71442"/>
                </a:lnTo>
                <a:lnTo>
                  <a:pt x="96300" y="94489"/>
                </a:lnTo>
                <a:lnTo>
                  <a:pt x="147748" y="94489"/>
                </a:lnTo>
                <a:lnTo>
                  <a:pt x="148309" y="93588"/>
                </a:lnTo>
                <a:lnTo>
                  <a:pt x="153744" y="78992"/>
                </a:lnTo>
                <a:lnTo>
                  <a:pt x="155003" y="71442"/>
                </a:lnTo>
                <a:lnTo>
                  <a:pt x="155001" y="52501"/>
                </a:lnTo>
                <a:lnTo>
                  <a:pt x="153723" y="44899"/>
                </a:lnTo>
                <a:lnTo>
                  <a:pt x="148246" y="30198"/>
                </a:lnTo>
                <a:lnTo>
                  <a:pt x="147772" y="29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3399" y="86910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776" y="0"/>
                </a:moveTo>
                <a:lnTo>
                  <a:pt x="0" y="0"/>
                </a:lnTo>
                <a:lnTo>
                  <a:pt x="0" y="28135"/>
                </a:lnTo>
                <a:lnTo>
                  <a:pt x="67819" y="28135"/>
                </a:lnTo>
                <a:lnTo>
                  <a:pt x="0" y="89128"/>
                </a:lnTo>
                <a:lnTo>
                  <a:pt x="0" y="114090"/>
                </a:lnTo>
                <a:lnTo>
                  <a:pt x="113776" y="114090"/>
                </a:lnTo>
                <a:lnTo>
                  <a:pt x="113776" y="85955"/>
                </a:lnTo>
                <a:lnTo>
                  <a:pt x="42291" y="85955"/>
                </a:lnTo>
                <a:lnTo>
                  <a:pt x="113776" y="22282"/>
                </a:lnTo>
                <a:lnTo>
                  <a:pt x="113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2368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148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3955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55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625875" y="9132409"/>
            <a:ext cx="635" cy="1052830"/>
          </a:xfrm>
          <a:custGeom>
            <a:avLst/>
            <a:gdLst/>
            <a:ahLst/>
            <a:cxnLst/>
            <a:rect l="l" t="t" r="r" b="b"/>
            <a:pathLst>
              <a:path w="635" h="1052829">
                <a:moveTo>
                  <a:pt x="0" y="0"/>
                </a:moveTo>
                <a:lnTo>
                  <a:pt x="460" y="1052659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2120273" y="1558715"/>
            <a:ext cx="15863552" cy="61702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Inteligencia Artificial y Machine </a:t>
            </a:r>
            <a:r>
              <a:rPr lang="es-MX" sz="8000" b="1" spc="-340" dirty="0" err="1">
                <a:solidFill>
                  <a:srgbClr val="FFFFFF"/>
                </a:solidFill>
                <a:latin typeface="+mj-lt"/>
                <a:cs typeface="Arial"/>
              </a:rPr>
              <a:t>Learning</a:t>
            </a: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 Aplicados a la Manufactura de Transformadores Eléctricos: De los Fundamentos a la Implementación de Valor</a:t>
            </a:r>
            <a:endParaRPr sz="8000" dirty="0">
              <a:latin typeface="+mj-lt"/>
              <a:cs typeface="Arial"/>
            </a:endParaRPr>
          </a:p>
        </p:txBody>
      </p:sp>
      <p:pic>
        <p:nvPicPr>
          <p:cNvPr id="41" name="Imagen 4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8B25CAA9-F7E5-6149-BB33-543011DC6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5143" y="8681784"/>
            <a:ext cx="469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8" y="3825875"/>
            <a:ext cx="12361510" cy="55675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it-IT" sz="12000" b="1" kern="0" spc="-340" dirty="0">
                <a:solidFill>
                  <a:srgbClr val="FFFFFF"/>
                </a:solidFill>
                <a:cs typeface="Arial"/>
              </a:rPr>
              <a:t>Laboratorio RAG con Microsoft Foundry</a:t>
            </a:r>
          </a:p>
          <a:p>
            <a:pPr marL="12700">
              <a:spcBef>
                <a:spcPts val="115"/>
              </a:spcBef>
            </a:pPr>
            <a:endParaRPr lang="es-CO" sz="12000" b="1" kern="0" spc="-34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0775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22275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defRPr sz="2100"/>
            </a:pPr>
            <a:r>
              <a:rPr lang="es-CO" sz="7200" b="1" spc="-600" dirty="0">
                <a:solidFill>
                  <a:srgbClr val="1F3D6F"/>
                </a:solidFill>
                <a:latin typeface="+mj-lt"/>
                <a:cs typeface="Arial"/>
              </a:rPr>
              <a:t>Asistente técnico para mantenimiento de transformadores eléctricos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0D5C00-22EB-BD73-DE01-557C2CEB0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4394675"/>
            <a:ext cx="17280000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Construir un asistente técnico que responda preguntas sobre mantenimiento de transformadores utilizando documentación propia.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Demostrar la diferencia entre un LLM con conocimiento general y un sistema RAG que recupera evidencia documental.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Resultado esperado: respuestas contextualizadas, trazables y con manejo explícito de información ausente.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936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Arquitectura conceptual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5001184"/>
            <a:ext cx="1728000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Usuario → pregunta → recuperación semántica → vector </a:t>
            </a:r>
            <a:r>
              <a:rPr lang="es-MX" sz="2800" dirty="0" err="1"/>
              <a:t>index</a:t>
            </a:r>
            <a:r>
              <a:rPr lang="es-MX" sz="2800" dirty="0"/>
              <a:t> → fragmentos relevantes → contexto → LLM → respuesta </a:t>
            </a:r>
            <a:r>
              <a:rPr lang="es-MX" sz="2800" dirty="0" err="1"/>
              <a:t>grounded</a:t>
            </a:r>
            <a:r>
              <a:rPr lang="es-MX" sz="2800" dirty="0"/>
              <a:t>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RAG no reentrena el modelo: le proporciona contexto relevante durante la consulta.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El valor empresarial está en conectar modelos generativos con conocimiento documental controlado.</a:t>
            </a:r>
          </a:p>
        </p:txBody>
      </p:sp>
    </p:spTree>
    <p:extLst>
      <p:ext uri="{BB962C8B-B14F-4D97-AF65-F5344CB8AC3E}">
        <p14:creationId xmlns:p14="http://schemas.microsoft.com/office/powerpoint/2010/main" val="44483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1. Preparar Azure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26919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Usar la suscripción y el grupo de recursos autorizados. En el laboratorio: </a:t>
            </a:r>
            <a:r>
              <a:rPr lang="es-MX" sz="2800" dirty="0" err="1"/>
              <a:t>sub-ailab-cursos</a:t>
            </a:r>
            <a:r>
              <a:rPr lang="es-MX" sz="2800" dirty="0"/>
              <a:t> y rg-curso-siemens-2026.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44C6C4D-9D7B-01BA-2CE2-578B4AD0968F}"/>
              </a:ext>
            </a:extLst>
          </p:cNvPr>
          <p:cNvSpPr txBox="1"/>
          <p:nvPr/>
        </p:nvSpPr>
        <p:spPr>
          <a:xfrm>
            <a:off x="7159639" y="5069180"/>
            <a:ext cx="57848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Azure</a:t>
            </a:r>
          </a:p>
          <a:p>
            <a:r>
              <a:rPr lang="es-CO" dirty="0"/>
              <a:t>  │</a:t>
            </a:r>
          </a:p>
          <a:p>
            <a:r>
              <a:rPr lang="es-CO" dirty="0"/>
              <a:t>  ├── </a:t>
            </a:r>
            <a:r>
              <a:rPr lang="es-CO" dirty="0" err="1"/>
              <a:t>Subscription</a:t>
            </a:r>
            <a:endParaRPr lang="es-CO" dirty="0"/>
          </a:p>
          <a:p>
            <a:r>
              <a:rPr lang="es-CO" dirty="0"/>
              <a:t>  │     └── </a:t>
            </a:r>
            <a:r>
              <a:rPr lang="es-CO" dirty="0" err="1"/>
              <a:t>sub-ailab-cursos</a:t>
            </a:r>
            <a:endParaRPr lang="es-CO" dirty="0"/>
          </a:p>
          <a:p>
            <a:r>
              <a:rPr lang="es-CO" dirty="0"/>
              <a:t>  │</a:t>
            </a:r>
          </a:p>
          <a:p>
            <a:r>
              <a:rPr lang="es-CO" dirty="0"/>
              <a:t>  └── </a:t>
            </a:r>
            <a:r>
              <a:rPr lang="es-CO" dirty="0" err="1"/>
              <a:t>Resource</a:t>
            </a:r>
            <a:r>
              <a:rPr lang="es-CO" dirty="0"/>
              <a:t> </a:t>
            </a:r>
            <a:r>
              <a:rPr lang="es-CO" dirty="0" err="1"/>
              <a:t>Group</a:t>
            </a:r>
            <a:endParaRPr lang="es-CO" dirty="0"/>
          </a:p>
          <a:p>
            <a:r>
              <a:rPr lang="es-CO" dirty="0"/>
              <a:t>        └── rg-curso-siemens-2026</a:t>
            </a:r>
          </a:p>
          <a:p>
            <a:r>
              <a:rPr lang="es-CO" dirty="0"/>
              <a:t>              └── Microsoft </a:t>
            </a:r>
            <a:r>
              <a:rPr lang="es-CO" dirty="0" err="1"/>
              <a:t>Foundry</a:t>
            </a:r>
            <a:endParaRPr lang="es-CO" dirty="0"/>
          </a:p>
          <a:p>
            <a:r>
              <a:rPr lang="es-CO" dirty="0"/>
              <a:t>                     └── Project: </a:t>
            </a:r>
            <a:r>
              <a:rPr lang="es-CO" dirty="0" err="1"/>
              <a:t>rag</a:t>
            </a:r>
            <a:r>
              <a:rPr lang="es-CO" dirty="0"/>
              <a:t>-transformadores</a:t>
            </a:r>
          </a:p>
          <a:p>
            <a:r>
              <a:rPr lang="es-CO" dirty="0"/>
              <a:t>                            │</a:t>
            </a:r>
          </a:p>
          <a:p>
            <a:r>
              <a:rPr lang="es-CO" dirty="0"/>
              <a:t>                            └── </a:t>
            </a:r>
            <a:r>
              <a:rPr lang="es-CO" dirty="0" err="1"/>
              <a:t>Foundry</a:t>
            </a:r>
            <a:r>
              <a:rPr lang="es-CO" dirty="0"/>
              <a:t> </a:t>
            </a:r>
            <a:r>
              <a:rPr lang="es-CO" dirty="0" err="1"/>
              <a:t>resource</a:t>
            </a:r>
            <a:endParaRPr lang="es-CO" dirty="0"/>
          </a:p>
          <a:p>
            <a:r>
              <a:rPr lang="es-CO" dirty="0"/>
              <a:t>                                </a:t>
            </a:r>
            <a:r>
              <a:rPr lang="es-CO" dirty="0" err="1"/>
              <a:t>rag</a:t>
            </a:r>
            <a:r>
              <a:rPr lang="es-CO" dirty="0"/>
              <a:t>-transformadores-</a:t>
            </a:r>
            <a:r>
              <a:rPr lang="es-CO" dirty="0" err="1"/>
              <a:t>resource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9907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1. Preparar Azure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26919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Usar la suscripción y el grupo de recursos autorizados. En el laboratorio: </a:t>
            </a:r>
            <a:r>
              <a:rPr lang="es-MX" sz="2800" dirty="0" err="1"/>
              <a:t>sub-ailab-cursos</a:t>
            </a:r>
            <a:r>
              <a:rPr lang="es-MX" sz="2800" dirty="0"/>
              <a:t> y rg-curso-siemens-2026.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731E9F-E16F-5D12-B5E3-65CBAD187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360" y="4440051"/>
            <a:ext cx="15919375" cy="592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2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2. Crear 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Crear </a:t>
            </a:r>
            <a:r>
              <a:rPr lang="es-MX" sz="2800" dirty="0" err="1"/>
              <a:t>rag</a:t>
            </a:r>
            <a:r>
              <a:rPr lang="es-MX" sz="2800" dirty="0"/>
              <a:t>-transformadores en Microsoft </a:t>
            </a:r>
            <a:r>
              <a:rPr lang="es-MX" sz="2800" dirty="0" err="1"/>
              <a:t>Foundry</a:t>
            </a:r>
            <a:r>
              <a:rPr lang="es-MX" sz="2800" dirty="0"/>
              <a:t>. Si una región es rechazada por Azure </a:t>
            </a:r>
            <a:r>
              <a:rPr lang="es-MX" sz="2800" dirty="0" err="1"/>
              <a:t>Policy</a:t>
            </a:r>
            <a:r>
              <a:rPr lang="es-MX" sz="2800" dirty="0"/>
              <a:t>, seleccionar una región permitida.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3392F0-1DCE-7C58-0F9A-E4F32886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84" y="4621547"/>
            <a:ext cx="6723528" cy="604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77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3. Verificar el recurso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Comprobar que el proyecto quedó creado y que aparecen el </a:t>
            </a:r>
            <a:r>
              <a:rPr lang="es-MX" sz="2800" dirty="0" err="1"/>
              <a:t>endpoint</a:t>
            </a:r>
            <a:r>
              <a:rPr lang="es-MX" sz="2800" dirty="0"/>
              <a:t> del proyecto y el </a:t>
            </a:r>
            <a:r>
              <a:rPr lang="es-MX" sz="2800" dirty="0" err="1"/>
              <a:t>endpoint</a:t>
            </a:r>
            <a:r>
              <a:rPr lang="es-MX" sz="2800" dirty="0"/>
              <a:t> de Azure </a:t>
            </a:r>
            <a:r>
              <a:rPr lang="es-MX" sz="2800" dirty="0" err="1"/>
              <a:t>OpenAI</a:t>
            </a:r>
            <a:r>
              <a:rPr lang="es-MX" sz="28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09F3C4-3054-F9BD-8D54-699D131B1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080" y="4514602"/>
            <a:ext cx="13541935" cy="638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0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4. Explorar modelos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Entrar a </a:t>
            </a:r>
            <a:r>
              <a:rPr lang="es-MX" sz="2800" dirty="0" err="1"/>
              <a:t>Discover</a:t>
            </a:r>
            <a:r>
              <a:rPr lang="es-MX" sz="2800" dirty="0"/>
              <a:t> &gt; </a:t>
            </a:r>
            <a:r>
              <a:rPr lang="es-MX" sz="2800" dirty="0" err="1"/>
              <a:t>Models</a:t>
            </a:r>
            <a:r>
              <a:rPr lang="es-MX" sz="2800" dirty="0"/>
              <a:t>, seleccionar un modelo disponible y desplegarlo. En el laboratorio se probó GPT-5.4-mini con Global Standard </a:t>
            </a:r>
            <a:r>
              <a:rPr lang="es-MX" sz="2800" dirty="0" err="1"/>
              <a:t>deployment</a:t>
            </a:r>
            <a:r>
              <a:rPr lang="es-MX" sz="28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B8A854-E006-04DE-2B8E-406B94C66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855" y="5142154"/>
            <a:ext cx="11858389" cy="555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1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5. Configurar instrucciones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Definir un asistente técnico: claro, conciso, explícito cuando falte información y sin inventar datos técnicos.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B9FCEA-314E-E8D8-F676-EAB37247D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516" y="4480155"/>
            <a:ext cx="9141068" cy="652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11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6. Probar el LLM sin RAG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Preguntar por los componentes de un transformador. Esta prueba establece la línea base de conocimiento general.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11AA53-9D4E-6386-DEC5-D2C686CE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576" y="4207745"/>
            <a:ext cx="14012472" cy="660383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0CCC6EC-F591-6517-86F1-09ACB2DAC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406" y="6758414"/>
            <a:ext cx="333487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Pregunta de prueba: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¿Cuáles son los principales componentes de un transformador eléctrico?</a:t>
            </a:r>
          </a:p>
        </p:txBody>
      </p:sp>
    </p:spTree>
    <p:extLst>
      <p:ext uri="{BB962C8B-B14F-4D97-AF65-F5344CB8AC3E}">
        <p14:creationId xmlns:p14="http://schemas.microsoft.com/office/powerpoint/2010/main" val="180138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7. Cargar conocimiento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2849652"/>
            <a:ext cx="17280000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Usar </a:t>
            </a:r>
            <a:r>
              <a:rPr lang="es-MX" sz="2800" dirty="0" err="1"/>
              <a:t>Upload</a:t>
            </a:r>
            <a:r>
              <a:rPr lang="es-MX" sz="2800" dirty="0"/>
              <a:t> files, crear un nuevo vector </a:t>
            </a:r>
            <a:r>
              <a:rPr lang="es-MX" sz="2800" dirty="0" err="1"/>
              <a:t>index</a:t>
            </a:r>
            <a:r>
              <a:rPr lang="es-MX" sz="2800" dirty="0"/>
              <a:t> y cargar manuales. Esperar estado </a:t>
            </a:r>
            <a:r>
              <a:rPr lang="es-MX" sz="2800" dirty="0" err="1"/>
              <a:t>Success</a:t>
            </a:r>
            <a:r>
              <a:rPr lang="es-MX" sz="2800" dirty="0"/>
              <a:t>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Vector </a:t>
            </a:r>
            <a:r>
              <a:rPr lang="es-MX" sz="2800" dirty="0" err="1"/>
              <a:t>Index</a:t>
            </a:r>
            <a:r>
              <a:rPr lang="es-MX" sz="2800" dirty="0"/>
              <a:t>: estructura que permite transformar y organizar el contenido de los documentos para que el sistema pueda recuperar posteriormente los fragmentos más relevantes frente a una pregunta.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7C481B-8B99-419A-9F9F-CA6789F07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836" y="4667943"/>
            <a:ext cx="6904428" cy="60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81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8. Probar RAG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Preguntar específicamente según el documento. La respuesta debe recuperar información y mostrar la referencia al PDF.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D6C9B0-A374-6556-6B88-DCAEF39B3911}"/>
              </a:ext>
            </a:extLst>
          </p:cNvPr>
          <p:cNvSpPr txBox="1"/>
          <p:nvPr/>
        </p:nvSpPr>
        <p:spPr>
          <a:xfrm>
            <a:off x="1896143" y="4970033"/>
            <a:ext cx="835600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Eres un asistente técnico especializado en transformadores eléctricos y su mantenimiento.</a:t>
            </a:r>
          </a:p>
          <a:p>
            <a:endParaRPr lang="es-CO" dirty="0"/>
          </a:p>
          <a:p>
            <a:r>
              <a:rPr lang="es-CO" dirty="0"/>
              <a:t>Responde de forma clara, técnica y concisa.</a:t>
            </a:r>
          </a:p>
          <a:p>
            <a:endParaRPr lang="es-CO" dirty="0"/>
          </a:p>
          <a:p>
            <a:r>
              <a:rPr lang="es-CO" dirty="0"/>
              <a:t>Para preguntas relacionadas con transformadores, mantenimiento, operación, inspección o anomalías, utiliza prioritariamente la información recuperada mediante File </a:t>
            </a:r>
            <a:r>
              <a:rPr lang="es-CO" dirty="0" err="1"/>
              <a:t>Search</a:t>
            </a:r>
            <a:r>
              <a:rPr lang="es-CO" dirty="0"/>
              <a:t> de los documentos cargados.</a:t>
            </a:r>
          </a:p>
          <a:p>
            <a:endParaRPr lang="es-CO" dirty="0"/>
          </a:p>
          <a:p>
            <a:r>
              <a:rPr lang="es-CO" dirty="0"/>
              <a:t>Basa las respuestas técnicas en los documentos recuperados y menciona la fuente cuando esté disponible.</a:t>
            </a:r>
          </a:p>
          <a:p>
            <a:endParaRPr lang="es-CO" dirty="0"/>
          </a:p>
          <a:p>
            <a:r>
              <a:rPr lang="es-CO" dirty="0"/>
              <a:t>Si la información solicitada no está disponible en los documentos, indícalo explícitamente y no inventes datos técnicos.</a:t>
            </a:r>
          </a:p>
          <a:p>
            <a:endParaRPr lang="es-CO" dirty="0"/>
          </a:p>
          <a:p>
            <a:r>
              <a:rPr lang="es-CO" dirty="0"/>
              <a:t>No confundas información general del modelo con información proveniente de los documentos.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6952501-1E10-988A-F657-47B35A26E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939" y="2197100"/>
            <a:ext cx="15695109" cy="702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83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10. Validar </a:t>
            </a:r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grounding</a:t>
            </a:r>
            <a:endParaRPr lang="es-MX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548905"/>
            <a:ext cx="17280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 err="1"/>
              <a:t>Grounding</a:t>
            </a:r>
            <a:r>
              <a:rPr lang="es-MX" sz="2800" b="1" dirty="0"/>
              <a:t>:</a:t>
            </a:r>
            <a:r>
              <a:rPr lang="es-MX" sz="2800" dirty="0"/>
              <a:t> anclar la respuesta del modelo en información recuperada desde una fuente de conocimiento.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800" dirty="0"/>
              <a:t> En el </a:t>
            </a:r>
            <a:r>
              <a:rPr lang="es-MX" sz="2800" dirty="0" err="1"/>
              <a:t>Playground</a:t>
            </a:r>
            <a:r>
              <a:rPr lang="es-MX" sz="2800" dirty="0"/>
              <a:t> se observa la referencia al </a:t>
            </a:r>
            <a:r>
              <a:rPr lang="es-MX" sz="2800" b="1" dirty="0"/>
              <a:t>PDF</a:t>
            </a:r>
            <a:r>
              <a:rPr lang="es-MX" sz="2800" dirty="0"/>
              <a:t> utilizado por </a:t>
            </a:r>
            <a:r>
              <a:rPr lang="es-MX" sz="2800" b="1" dirty="0"/>
              <a:t>File </a:t>
            </a:r>
            <a:r>
              <a:rPr lang="es-MX" sz="2800" b="1" dirty="0" err="1"/>
              <a:t>Search</a:t>
            </a:r>
            <a:r>
              <a:rPr lang="es-MX" sz="2800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800" dirty="0"/>
              <a:t> Esto permite comprobar el vínculo entre </a:t>
            </a:r>
            <a:r>
              <a:rPr lang="es-MX" sz="2800" b="1" dirty="0"/>
              <a:t>pregunta → recuperación documental → respuesta</a:t>
            </a:r>
            <a:r>
              <a:rPr lang="es-MX" sz="2800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800" dirty="0"/>
              <a:t> El objetivo es reducir respuestas no fundamentadas y facilitar la trazabilidad de la información.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95515F-3D81-90C8-0172-A4B15A006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2" y="6448123"/>
            <a:ext cx="19028335" cy="298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44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11. Evaluar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118591"/>
            <a:ext cx="17280000" cy="7253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rPr lang="es-MX" sz="2800" dirty="0"/>
              <a:t>Sin RAG: conocimiento general del modelo; menor trazabilidad respecto al documento interno.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Con RAG: recuperación documental + generación; mayor contextualización y trazabilidad.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RAG no garantiza verdad absoluta: depende de la calidad de documentos, recuperación, instrucciones y evaluación.</a:t>
            </a:r>
          </a:p>
          <a:p>
            <a:pPr>
              <a:spcAft>
                <a:spcPts val="800"/>
              </a:spcAft>
              <a:defRPr sz="1600"/>
            </a:pPr>
            <a:endParaRPr lang="es-MX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Comparar respuestas sin RAG y con RAG en precisión, trazabilidad, contexto y manejo de información ausente.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Sin RAG: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Pregunta: ¿Cuáles son los principales componentes de un transformador eléctrico?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Objetivo: establecer una línea base.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Una respuesta correcta no demuestra que el modelo haya usado el documento del laboratorio.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Con RAG: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Pregunta: “Según el documento cargado, ¿qué parámetros deben monitorearse durante el mantenimiento preventivo de un transformador y qué debe revisarse cuando aumenta la temperatura del aceite?”</a:t>
            </a:r>
          </a:p>
          <a:p>
            <a:pPr>
              <a:spcAft>
                <a:spcPts val="800"/>
              </a:spcAft>
              <a:defRPr sz="1600"/>
            </a:pPr>
            <a:r>
              <a:rPr lang="es-MX" sz="2800" dirty="0"/>
              <a:t>En la prueba realizada, File </a:t>
            </a:r>
            <a:r>
              <a:rPr lang="es-MX" sz="2800" dirty="0" err="1"/>
              <a:t>search</a:t>
            </a:r>
            <a:r>
              <a:rPr lang="es-MX" sz="2800" dirty="0"/>
              <a:t> recuperó el PDF y la respuesta enumeró parámetros y revisiones asociados al documento.</a:t>
            </a:r>
          </a:p>
        </p:txBody>
      </p:sp>
    </p:spTree>
    <p:extLst>
      <p:ext uri="{BB962C8B-B14F-4D97-AF65-F5344CB8AC3E}">
        <p14:creationId xmlns:p14="http://schemas.microsoft.com/office/powerpoint/2010/main" val="3201795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3709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Conceptos clave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209924-9402-4A9E-4D4A-AF2C7C865D1D}"/>
              </a:ext>
            </a:extLst>
          </p:cNvPr>
          <p:cNvSpPr txBox="1"/>
          <p:nvPr/>
        </p:nvSpPr>
        <p:spPr>
          <a:xfrm>
            <a:off x="1412048" y="3441325"/>
            <a:ext cx="17280000" cy="555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LLM: Modelo generativo que interpreta la consulta y produce texto. Puede responder con conocimiento general.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RAG: </a:t>
            </a:r>
            <a:r>
              <a:rPr lang="es-MX" sz="2800" dirty="0" err="1"/>
              <a:t>Retrieval-Augmented</a:t>
            </a:r>
            <a:r>
              <a:rPr lang="es-MX" sz="2800" dirty="0"/>
              <a:t> </a:t>
            </a:r>
            <a:r>
              <a:rPr lang="es-MX" sz="2800" dirty="0" err="1"/>
              <a:t>Generation</a:t>
            </a:r>
            <a:r>
              <a:rPr lang="es-MX" sz="2800" dirty="0"/>
              <a:t>: recupera información relevante desde una fuente documental y la entrega al modelo como contexto.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Vector </a:t>
            </a:r>
            <a:r>
              <a:rPr lang="es-MX" sz="2800" dirty="0" err="1"/>
              <a:t>index</a:t>
            </a:r>
            <a:r>
              <a:rPr lang="es-MX" sz="2800" dirty="0"/>
              <a:t>: Estructura que permite localizar fragmentos documentalmente relevantes mediante búsqueda semántica.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 err="1"/>
              <a:t>Embeddings</a:t>
            </a:r>
            <a:r>
              <a:rPr lang="es-MX" sz="2800" dirty="0"/>
              <a:t>: Representaciones numéricas que permiten comparar similitud semántica entre preguntas y fragmentos.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 err="1"/>
              <a:t>Retrieval</a:t>
            </a:r>
            <a:r>
              <a:rPr lang="es-MX" sz="2800" dirty="0"/>
              <a:t>: Etapa en la que File </a:t>
            </a:r>
            <a:r>
              <a:rPr lang="es-MX" sz="2800" dirty="0" err="1"/>
              <a:t>search</a:t>
            </a:r>
            <a:r>
              <a:rPr lang="es-MX" sz="2800" dirty="0"/>
              <a:t> localiza los fragmentos relevantes.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 err="1"/>
              <a:t>Grounding</a:t>
            </a:r>
            <a:r>
              <a:rPr lang="es-MX" sz="2800" dirty="0"/>
              <a:t>: Vinculación de la respuesta con evidencia recuperada.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Alucinación: Respuesta plausible pero no sustentada por la fuente.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pPr>
            <a:r>
              <a:rPr lang="es-MX" sz="2800" dirty="0"/>
              <a:t>File </a:t>
            </a:r>
            <a:r>
              <a:rPr lang="es-MX" sz="2800" dirty="0" err="1"/>
              <a:t>search</a:t>
            </a:r>
            <a:r>
              <a:rPr lang="es-MX" sz="2800" dirty="0"/>
              <a:t>: Herramienta del </a:t>
            </a:r>
            <a:r>
              <a:rPr lang="es-MX" sz="2800" dirty="0" err="1"/>
              <a:t>Playground</a:t>
            </a:r>
            <a:r>
              <a:rPr lang="es-MX" sz="2800" dirty="0"/>
              <a:t> que consulta el índice documental.</a:t>
            </a:r>
          </a:p>
        </p:txBody>
      </p:sp>
    </p:spTree>
    <p:extLst>
      <p:ext uri="{BB962C8B-B14F-4D97-AF65-F5344CB8AC3E}">
        <p14:creationId xmlns:p14="http://schemas.microsoft.com/office/powerpoint/2010/main" val="2034307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1C64AD5-F392-1A62-DA6D-E8B3DDB04F7D}"/>
              </a:ext>
            </a:extLst>
          </p:cNvPr>
          <p:cNvSpPr txBox="1"/>
          <p:nvPr/>
        </p:nvSpPr>
        <p:spPr>
          <a:xfrm>
            <a:off x="1412050" y="3989363"/>
            <a:ext cx="1728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Arquitectura de un Sistema RAG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 aplicación </a:t>
            </a:r>
            <a:r>
              <a:rPr lang="es-MX" sz="2800" b="1" dirty="0"/>
              <a:t>no se comunica directamente con el LLM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El </a:t>
            </a:r>
            <a:r>
              <a:rPr lang="es-MX" sz="2800" b="1" dirty="0"/>
              <a:t>Agente de Orquestación</a:t>
            </a:r>
            <a:r>
              <a:rPr lang="es-MX" sz="2800" dirty="0"/>
              <a:t> es el componente central que coordina todo el flujo.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Ante una consulta, el agente </a:t>
            </a:r>
            <a:r>
              <a:rPr lang="es-MX" sz="2800" b="1" dirty="0"/>
              <a:t>primero recupera información mediante el sistema RAG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El </a:t>
            </a:r>
            <a:r>
              <a:rPr lang="es-MX" sz="2800" b="1" dirty="0"/>
              <a:t>RAG consulta las fuentes de datos</a:t>
            </a:r>
            <a:r>
              <a:rPr lang="es-MX" sz="2800" dirty="0"/>
              <a:t>: bases estructuradas, no estructuradas y vectoriales.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 información recuperada se envía al </a:t>
            </a:r>
            <a:r>
              <a:rPr lang="es-MX" sz="2800" b="1" dirty="0"/>
              <a:t>LLM</a:t>
            </a:r>
            <a:r>
              <a:rPr lang="es-MX" sz="2800" dirty="0"/>
              <a:t>, que interpreta el contexto y genera la respuesta final.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El orquestador permite integrar </a:t>
            </a:r>
            <a:r>
              <a:rPr lang="es-MX" sz="2800" b="1" dirty="0"/>
              <a:t>múltiples RAG, fuentes de datos y modelos LLM</a:t>
            </a:r>
            <a:r>
              <a:rPr lang="es-MX" sz="2800" dirty="0"/>
              <a:t>, facilitando la escalabilidad y el cambio de tecnologías. </a:t>
            </a:r>
          </a:p>
          <a:p>
            <a:r>
              <a:rPr lang="es-MX" sz="2800" b="1" dirty="0"/>
              <a:t>Flujo principal:</a:t>
            </a:r>
            <a:endParaRPr lang="es-MX" sz="2800" dirty="0"/>
          </a:p>
          <a:p>
            <a:r>
              <a:rPr lang="es-MX" sz="2800" b="1" dirty="0"/>
              <a:t>Usuario / Aplicación → Agente de Orquestación → RAG / Fuentes de Datos → Agente → LLM → Respuesta</a:t>
            </a:r>
            <a:endParaRPr lang="es-MX" sz="2800" dirty="0"/>
          </a:p>
          <a:p>
            <a:r>
              <a:rPr lang="es-MX" sz="2800" b="1" dirty="0"/>
              <a:t>Idea clave:</a:t>
            </a:r>
            <a:r>
              <a:rPr lang="es-MX" sz="2800" dirty="0"/>
              <a:t> El </a:t>
            </a:r>
            <a:r>
              <a:rPr lang="es-MX" sz="2800" b="1" dirty="0"/>
              <a:t>RAG recupera información</a:t>
            </a:r>
            <a:r>
              <a:rPr lang="es-MX" sz="2800" dirty="0"/>
              <a:t>, el </a:t>
            </a:r>
            <a:r>
              <a:rPr lang="es-MX" sz="2800" b="1" dirty="0"/>
              <a:t>LLM genera la respuesta</a:t>
            </a:r>
            <a:r>
              <a:rPr lang="es-MX" sz="2800" dirty="0"/>
              <a:t> y el </a:t>
            </a:r>
            <a:r>
              <a:rPr lang="es-MX" sz="2800" b="1" dirty="0"/>
              <a:t>Agente de Orquestación coordina todo el sistema</a:t>
            </a:r>
            <a:r>
              <a:rPr lang="es-MX" sz="2800" dirty="0"/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1509663"/>
            <a:ext cx="13024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200" b="1" spc="-600" dirty="0">
                <a:solidFill>
                  <a:srgbClr val="1F3D6F"/>
                </a:solidFill>
                <a:latin typeface="+mj-lt"/>
                <a:cs typeface="Arial"/>
              </a:rPr>
              <a:t>Arquitetura RAG</a:t>
            </a:r>
          </a:p>
        </p:txBody>
      </p:sp>
    </p:spTree>
    <p:extLst>
      <p:ext uri="{BB962C8B-B14F-4D97-AF65-F5344CB8AC3E}">
        <p14:creationId xmlns:p14="http://schemas.microsoft.com/office/powerpoint/2010/main" val="3786435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1509663"/>
            <a:ext cx="13024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200" b="1" spc="-600" dirty="0">
                <a:solidFill>
                  <a:srgbClr val="1F3D6F"/>
                </a:solidFill>
                <a:latin typeface="+mj-lt"/>
                <a:cs typeface="Arial"/>
              </a:rPr>
              <a:t>Arquitetura RAG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F1085DF-DD98-4235-2C83-E565EBE69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81" y="3414148"/>
            <a:ext cx="10740538" cy="716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14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1509663"/>
            <a:ext cx="13024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Fragmentación de documentos en bases de datos vectoriales</a:t>
            </a:r>
          </a:p>
          <a:p>
            <a:pPr algn="ctr"/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E8AFC18-9302-B46D-66E2-CD7CD5E41B83}"/>
              </a:ext>
            </a:extLst>
          </p:cNvPr>
          <p:cNvSpPr txBox="1"/>
          <p:nvPr/>
        </p:nvSpPr>
        <p:spPr>
          <a:xfrm>
            <a:off x="1412050" y="4652288"/>
            <a:ext cx="17280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RAG: del documento a la respuesta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/>
              <a:t>Documentos tradicionales:</a:t>
            </a:r>
            <a:r>
              <a:rPr lang="es-MX" sz="2800" dirty="0"/>
              <a:t> se almacenan y descargan como archivos completos.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/>
              <a:t>RAG:</a:t>
            </a:r>
            <a:r>
              <a:rPr lang="es-MX" sz="2800" dirty="0"/>
              <a:t> los documentos se </a:t>
            </a:r>
            <a:r>
              <a:rPr lang="es-MX" sz="2800" b="1" dirty="0"/>
              <a:t>fragmentan en pequeños segmentos (</a:t>
            </a:r>
            <a:r>
              <a:rPr lang="es-MX" sz="2800" b="1" i="1" dirty="0" err="1"/>
              <a:t>chunks</a:t>
            </a:r>
            <a:r>
              <a:rPr lang="es-MX" sz="2800" b="1" dirty="0"/>
              <a:t>)</a:t>
            </a:r>
            <a:r>
              <a:rPr lang="es-MX" sz="2800" dirty="0"/>
              <a:t> para facilitar su procesamiento.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Cada </a:t>
            </a:r>
            <a:r>
              <a:rPr lang="es-MX" sz="2800" i="1" dirty="0" err="1"/>
              <a:t>chunk</a:t>
            </a:r>
            <a:r>
              <a:rPr lang="es-MX" sz="2800" dirty="0"/>
              <a:t> se transforma en un </a:t>
            </a:r>
            <a:r>
              <a:rPr lang="es-MX" sz="2800" b="1" dirty="0" err="1"/>
              <a:t>embedding</a:t>
            </a:r>
            <a:r>
              <a:rPr lang="es-MX" sz="2800" dirty="0"/>
              <a:t>, una representación numérica de su contenido.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Los </a:t>
            </a:r>
            <a:r>
              <a:rPr lang="es-MX" sz="2800" dirty="0" err="1"/>
              <a:t>embeddings</a:t>
            </a:r>
            <a:r>
              <a:rPr lang="es-MX" sz="2800" dirty="0"/>
              <a:t> se almacenan en una </a:t>
            </a:r>
            <a:r>
              <a:rPr lang="es-MX" sz="2800" b="1" dirty="0"/>
              <a:t>base de datos vectorial</a:t>
            </a:r>
            <a:r>
              <a:rPr lang="es-MX" sz="2800" dirty="0"/>
              <a:t>, optimizada para búsquedas por similitud.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Ante una consulta, el sistema </a:t>
            </a:r>
            <a:r>
              <a:rPr lang="es-MX" sz="2800" b="1" dirty="0"/>
              <a:t>recupera los fragmentos más relevantes</a:t>
            </a:r>
            <a:r>
              <a:rPr lang="es-MX" sz="2800" dirty="0"/>
              <a:t> y los incorpora al </a:t>
            </a:r>
            <a:r>
              <a:rPr lang="es-MX" sz="2800" i="1" dirty="0" err="1"/>
              <a:t>prompt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Finalmente, el </a:t>
            </a:r>
            <a:r>
              <a:rPr lang="es-MX" sz="2800" b="1" dirty="0"/>
              <a:t>LLM analiza el contexto recuperado y genera una respuesta clara y fundamentada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 </a:t>
            </a:r>
            <a:r>
              <a:rPr lang="es-MX" sz="2800" b="1" dirty="0"/>
              <a:t>indexación</a:t>
            </a:r>
            <a:r>
              <a:rPr lang="es-MX" sz="2800" dirty="0"/>
              <a:t> permite optimizar y acelerar la recuperación de los fragmentos correctos. </a:t>
            </a:r>
          </a:p>
          <a:p>
            <a:r>
              <a:rPr lang="es-MX" sz="2800" b="1" dirty="0"/>
              <a:t>Flujo:</a:t>
            </a:r>
            <a:br>
              <a:rPr lang="es-MX" sz="2800" dirty="0"/>
            </a:br>
            <a:r>
              <a:rPr lang="es-MX" sz="2800" b="1" dirty="0"/>
              <a:t>Documento → </a:t>
            </a:r>
            <a:r>
              <a:rPr lang="es-MX" sz="2800" b="1" dirty="0" err="1"/>
              <a:t>Chunks</a:t>
            </a:r>
            <a:r>
              <a:rPr lang="es-MX" sz="2800" b="1" dirty="0"/>
              <a:t> → </a:t>
            </a:r>
            <a:r>
              <a:rPr lang="es-MX" sz="2800" b="1" dirty="0" err="1"/>
              <a:t>Embeddings</a:t>
            </a:r>
            <a:r>
              <a:rPr lang="es-MX" sz="2800" b="1" dirty="0"/>
              <a:t> → Base Vectorial → Búsqueda → Contexto → LLM → Respuesta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297328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649044"/>
            <a:ext cx="13024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Fragmentación de documentos en bases de datos vectoriales</a:t>
            </a:r>
          </a:p>
          <a:p>
            <a:pPr algn="ctr"/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635DC0C-2D6F-7CC5-2D4D-49C1DF865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220" y="3111838"/>
            <a:ext cx="12887660" cy="771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27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1509663"/>
            <a:ext cx="13024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Embeddings</a:t>
            </a:r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EB18957-17A4-64D8-EA2B-ACD4B06E8CC1}"/>
              </a:ext>
            </a:extLst>
          </p:cNvPr>
          <p:cNvSpPr txBox="1"/>
          <p:nvPr/>
        </p:nvSpPr>
        <p:spPr>
          <a:xfrm>
            <a:off x="1412050" y="3244046"/>
            <a:ext cx="17280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 err="1"/>
              <a:t>Embeddings</a:t>
            </a:r>
            <a:r>
              <a:rPr lang="es-MX" sz="2800" b="1" dirty="0"/>
              <a:t>: de los documentos a la búsqueda inteligente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Los </a:t>
            </a:r>
            <a:r>
              <a:rPr lang="es-MX" sz="2800" b="1" dirty="0" err="1"/>
              <a:t>embeddings</a:t>
            </a:r>
            <a:r>
              <a:rPr lang="es-MX" sz="2800" dirty="0"/>
              <a:t> transforman información como </a:t>
            </a:r>
            <a:r>
              <a:rPr lang="es-MX" sz="2800" b="1" dirty="0"/>
              <a:t>texto, imágenes, audio o video</a:t>
            </a:r>
            <a:r>
              <a:rPr lang="es-MX" sz="2800" dirty="0"/>
              <a:t> en representaciones numéricas llamadas </a:t>
            </a:r>
            <a:r>
              <a:rPr lang="es-MX" sz="2800" b="1" dirty="0"/>
              <a:t>vectores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El proceso comienza con la </a:t>
            </a:r>
            <a:r>
              <a:rPr lang="es-MX" sz="2800" b="1" dirty="0"/>
              <a:t>ingesta y procesamiento</a:t>
            </a:r>
            <a:r>
              <a:rPr lang="es-MX" sz="2800" dirty="0"/>
              <a:t> de los archivos.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 información se divide en </a:t>
            </a:r>
            <a:r>
              <a:rPr lang="es-MX" sz="2800" b="1" dirty="0" err="1"/>
              <a:t>chunks</a:t>
            </a:r>
            <a:r>
              <a:rPr lang="es-MX" sz="2800" dirty="0"/>
              <a:t> y cada fragmento se convierte en un </a:t>
            </a:r>
            <a:r>
              <a:rPr lang="es-MX" sz="2800" b="1" dirty="0"/>
              <a:t>vector numérico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Posteriormente, los vectores se </a:t>
            </a:r>
            <a:r>
              <a:rPr lang="es-MX" sz="2800" b="1" dirty="0"/>
              <a:t>indexan y almacenan en una base de datos vectorial</a:t>
            </a:r>
            <a:r>
              <a:rPr lang="es-MX" sz="2800" dirty="0"/>
              <a:t> para permitir búsquedas por similitud.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Cuando un usuario realiza una consulta, el sistema identifica y recupera los </a:t>
            </a:r>
            <a:r>
              <a:rPr lang="es-MX" sz="2800" b="1" dirty="0"/>
              <a:t>fragmentos más relevantes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 elección del </a:t>
            </a:r>
            <a:r>
              <a:rPr lang="es-MX" sz="2800" b="1" dirty="0"/>
              <a:t>modelo de </a:t>
            </a:r>
            <a:r>
              <a:rPr lang="es-MX" sz="2800" b="1" dirty="0" err="1"/>
              <a:t>embeddings</a:t>
            </a:r>
            <a:r>
              <a:rPr lang="es-MX" sz="2800" dirty="0"/>
              <a:t> es fundamental, ya que puede afectar significativamente la calidad de la recuperación y, por tanto, de las respuestas del RAG.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Los principales proveedores de nube ofrecen </a:t>
            </a:r>
            <a:r>
              <a:rPr lang="es-MX" sz="2800" b="1" dirty="0"/>
              <a:t>modelos de </a:t>
            </a:r>
            <a:r>
              <a:rPr lang="es-MX" sz="2800" b="1" dirty="0" err="1"/>
              <a:t>embeddings</a:t>
            </a:r>
            <a:r>
              <a:rPr lang="es-MX" sz="2800" b="1" dirty="0"/>
              <a:t> listos para consumir</a:t>
            </a:r>
            <a:r>
              <a:rPr lang="es-MX" sz="2800" dirty="0"/>
              <a:t>, sin necesidad de entrenarlos desde cero. </a:t>
            </a:r>
          </a:p>
          <a:p>
            <a:r>
              <a:rPr lang="es-MX" sz="2800" b="1" dirty="0"/>
              <a:t>Flujo principal:</a:t>
            </a:r>
            <a:endParaRPr lang="es-MX" sz="2800" dirty="0"/>
          </a:p>
          <a:p>
            <a:r>
              <a:rPr lang="es-MX" sz="2800" b="1" dirty="0"/>
              <a:t>Datos → Procesamiento → </a:t>
            </a:r>
            <a:r>
              <a:rPr lang="es-MX" sz="2800" b="1" dirty="0" err="1"/>
              <a:t>Chunking</a:t>
            </a:r>
            <a:r>
              <a:rPr lang="es-MX" sz="2800" b="1" dirty="0"/>
              <a:t> → </a:t>
            </a:r>
            <a:r>
              <a:rPr lang="es-MX" sz="2800" b="1" dirty="0" err="1"/>
              <a:t>Embeddings</a:t>
            </a:r>
            <a:r>
              <a:rPr lang="es-MX" sz="2800" b="1" dirty="0"/>
              <a:t> (Vectores) → Indexación → Base Vectorial → Búsqueda por Similitud → RAG/LLM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33876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767382"/>
            <a:ext cx="13024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 err="1">
                <a:solidFill>
                  <a:srgbClr val="1F3D6F"/>
                </a:solidFill>
                <a:latin typeface="+mj-lt"/>
                <a:cs typeface="Arial"/>
              </a:rPr>
              <a:t>Embeddings</a:t>
            </a:r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A3E0375-F8B2-60E9-D630-0735EB751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233" y="2151529"/>
            <a:ext cx="13199633" cy="879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2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767382"/>
            <a:ext cx="13024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Qué son las bases de datos vectoriales</a:t>
            </a:r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7C50643-AAD2-CACE-3471-4BC6753D50A0}"/>
              </a:ext>
            </a:extLst>
          </p:cNvPr>
          <p:cNvSpPr txBox="1"/>
          <p:nvPr/>
        </p:nvSpPr>
        <p:spPr>
          <a:xfrm>
            <a:off x="1412050" y="2119099"/>
            <a:ext cx="17280000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Bases de Datos Vectoriales y Búsqueda Semántica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Las </a:t>
            </a:r>
            <a:r>
              <a:rPr lang="es-MX" sz="2800" b="1" dirty="0"/>
              <a:t>bases de datos vectoriales</a:t>
            </a:r>
            <a:r>
              <a:rPr lang="es-MX" sz="2800" dirty="0"/>
              <a:t> almacenan información como </a:t>
            </a:r>
            <a:r>
              <a:rPr lang="es-MX" sz="2800" b="1" dirty="0"/>
              <a:t>vectores</a:t>
            </a:r>
            <a:r>
              <a:rPr lang="es-MX" sz="2800" dirty="0"/>
              <a:t>, permitiendo buscar por </a:t>
            </a:r>
            <a:r>
              <a:rPr lang="es-MX" sz="2800" b="1" dirty="0"/>
              <a:t>similitud semántica</a:t>
            </a:r>
            <a:r>
              <a:rPr lang="es-MX" sz="2800" dirty="0"/>
              <a:t> y no solo por coincidencias exactas.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Cada </a:t>
            </a:r>
            <a:r>
              <a:rPr lang="es-MX" sz="2800" b="1" dirty="0" err="1"/>
              <a:t>chunk</a:t>
            </a:r>
            <a:r>
              <a:rPr lang="es-MX" sz="2800" dirty="0"/>
              <a:t> se transforma en un vector y se ubica en un </a:t>
            </a:r>
            <a:r>
              <a:rPr lang="es-MX" sz="2800" b="1" dirty="0"/>
              <a:t>espacio vectorial</a:t>
            </a:r>
            <a:r>
              <a:rPr lang="es-MX" sz="2800" dirty="0"/>
              <a:t>, donde los contenidos con significado similar quedan más próximos.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Durante una consulta, la base identifica los </a:t>
            </a:r>
            <a:r>
              <a:rPr lang="es-MX" sz="2800" b="1" dirty="0"/>
              <a:t>vectores más cercanos</a:t>
            </a:r>
            <a:r>
              <a:rPr lang="es-MX" sz="2800" dirty="0"/>
              <a:t> al significado de la pregunta y recupera los fragmentos relevantes.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Son fundamentales en aplicaciones como </a:t>
            </a:r>
            <a:r>
              <a:rPr lang="es-MX" sz="2800" b="1" dirty="0"/>
              <a:t>sistemas de recomendación, buscadores inteligentes y arquitecturas RAG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Existen motores tradicionales con soporte vectorial y bases especializadas, como </a:t>
            </a:r>
            <a:r>
              <a:rPr lang="es-MX" sz="2800" b="1" dirty="0"/>
              <a:t>PostgreSQL con extensiones vectoriales, </a:t>
            </a:r>
            <a:r>
              <a:rPr lang="es-MX" sz="2800" b="1" dirty="0" err="1"/>
              <a:t>Milvus</a:t>
            </a:r>
            <a:r>
              <a:rPr lang="es-MX" sz="2800" b="1" dirty="0"/>
              <a:t>, </a:t>
            </a:r>
            <a:r>
              <a:rPr lang="es-MX" sz="2800" b="1" dirty="0" err="1"/>
              <a:t>Chroma</a:t>
            </a:r>
            <a:r>
              <a:rPr lang="es-MX" sz="2800" b="1" dirty="0"/>
              <a:t>, Vespa y </a:t>
            </a:r>
            <a:r>
              <a:rPr lang="es-MX" sz="2800" b="1" dirty="0" err="1"/>
              <a:t>LanceDB</a:t>
            </a:r>
            <a:r>
              <a:rPr lang="es-MX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Una arquitectura híbrida puede combinar una </a:t>
            </a:r>
            <a:r>
              <a:rPr lang="es-MX" sz="2800" b="1" dirty="0"/>
              <a:t>base de datos estructurada</a:t>
            </a:r>
            <a:r>
              <a:rPr lang="es-MX" sz="2800" dirty="0"/>
              <a:t> para información transaccional y una </a:t>
            </a:r>
            <a:r>
              <a:rPr lang="es-MX" sz="2800" b="1" dirty="0"/>
              <a:t>base vectorial</a:t>
            </a:r>
            <a:r>
              <a:rPr lang="es-MX" sz="2800" dirty="0"/>
              <a:t> para búsqueda semántica.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dirty="0"/>
              <a:t>En un sistema </a:t>
            </a:r>
            <a:r>
              <a:rPr lang="es-MX" sz="2800" b="1" dirty="0"/>
              <a:t>RAG</a:t>
            </a:r>
            <a:r>
              <a:rPr lang="es-MX" sz="2800" dirty="0"/>
              <a:t>, la base vectorial permite recuperar el contexto más relevante para enviarlo posteriormente al LLM. </a:t>
            </a:r>
          </a:p>
          <a:p>
            <a:r>
              <a:rPr lang="es-MX" sz="2800" b="1" dirty="0"/>
              <a:t>Flujo principal:</a:t>
            </a:r>
            <a:endParaRPr lang="es-MX" sz="2800" dirty="0"/>
          </a:p>
          <a:p>
            <a:r>
              <a:rPr lang="es-MX" sz="2800" b="1" dirty="0"/>
              <a:t>Documentos → </a:t>
            </a:r>
            <a:r>
              <a:rPr lang="es-MX" sz="2800" b="1" dirty="0" err="1"/>
              <a:t>Chunks</a:t>
            </a:r>
            <a:r>
              <a:rPr lang="es-MX" sz="2800" b="1" dirty="0"/>
              <a:t> → </a:t>
            </a:r>
            <a:r>
              <a:rPr lang="es-MX" sz="2800" b="1" dirty="0" err="1"/>
              <a:t>Embeddings</a:t>
            </a:r>
            <a:r>
              <a:rPr lang="es-MX" sz="2800" b="1" dirty="0"/>
              <a:t> → Indexación → Base Vectorial → Búsqueda Semántica → Fragmentos Relevantes → LLM → Respuesta</a:t>
            </a:r>
            <a:endParaRPr lang="es-MX" sz="2800" dirty="0"/>
          </a:p>
          <a:p>
            <a:r>
              <a:rPr lang="es-MX" sz="2800" b="1" dirty="0"/>
              <a:t>Idea clave:</a:t>
            </a:r>
            <a:br>
              <a:rPr lang="es-MX" sz="2800" dirty="0"/>
            </a:br>
            <a:r>
              <a:rPr lang="es-MX" sz="2800" b="1" dirty="0"/>
              <a:t>La cercanía entre vectores representa similitud de significado, permitiendo encontrar información relevante aunque no coincida exactamente con las palabras utilizadas en la consulta.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2200598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26702810-AE7F-C64B-CBDF-DC9EFC7A004C}"/>
              </a:ext>
            </a:extLst>
          </p:cNvPr>
          <p:cNvSpPr txBox="1"/>
          <p:nvPr/>
        </p:nvSpPr>
        <p:spPr>
          <a:xfrm>
            <a:off x="3539640" y="767382"/>
            <a:ext cx="13024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Qué son las bases de datos vectoriales</a:t>
            </a:r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9A59DC-7DDC-4E60-AC21-E466687B8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15" y="2229581"/>
            <a:ext cx="14307670" cy="85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84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F462F7D-62BC-603F-27B4-BA22EF6B3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056" y="1409703"/>
            <a:ext cx="6441987" cy="96629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0B41BED-C7DD-E209-AE0F-EC3652A1AE77}"/>
              </a:ext>
            </a:extLst>
          </p:cNvPr>
          <p:cNvSpPr txBox="1"/>
          <p:nvPr/>
        </p:nvSpPr>
        <p:spPr>
          <a:xfrm>
            <a:off x="2851150" y="347834"/>
            <a:ext cx="13024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7200" b="1" spc="-600" dirty="0">
                <a:solidFill>
                  <a:srgbClr val="1F3D6F"/>
                </a:solidFill>
                <a:latin typeface="+mj-lt"/>
                <a:cs typeface="Arial"/>
              </a:rPr>
              <a:t>Arquitectura de un Sistema RAG en Azure</a:t>
            </a:r>
            <a:endParaRPr lang="pt-BR" sz="7200" b="1" spc="-600" dirty="0">
              <a:solidFill>
                <a:srgbClr val="1F3D6F"/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3694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2569860" y="4942076"/>
            <a:ext cx="3701846" cy="14251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8800" b="1" spc="-600" dirty="0">
                <a:solidFill>
                  <a:srgbClr val="1F3D6F"/>
                </a:solidFill>
                <a:latin typeface="+mj-lt"/>
                <a:cs typeface="Arial"/>
              </a:rPr>
              <a:t>Gracias!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04CAC8-1AF8-0C82-42EE-4154F9451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045" y="1383328"/>
            <a:ext cx="8857952" cy="88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02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B635CE-39C7-0E4F-A980-BB79B148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pic>
        <p:nvPicPr>
          <p:cNvPr id="5" name="Imagen 4" descr="Imagen que contiene camiseta, dibujo&#10;&#10;Descripción generada automáticamente">
            <a:extLst>
              <a:ext uri="{FF2B5EF4-FFF2-40B4-BE49-F238E27FC236}">
                <a16:creationId xmlns:a16="http://schemas.microsoft.com/office/drawing/2014/main" id="{E474E637-C0D3-8942-AFC9-6A24211AA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450" y="3597672"/>
            <a:ext cx="6765581" cy="473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4230</TotalTime>
  <Words>1559</Words>
  <Application>Microsoft Office PowerPoint</Application>
  <PresentationFormat>Personalizado</PresentationFormat>
  <Paragraphs>131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Inteligencia Artificial y Machine Learning Aplicados a la Manufactura de Transformadores Eléctricos: De los Fundamentos a la Implementación de Valor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Sebastian Rivera García</dc:creator>
  <cp:lastModifiedBy>Sebastian Rivera</cp:lastModifiedBy>
  <cp:revision>75</cp:revision>
  <dcterms:modified xsi:type="dcterms:W3CDTF">2026-08-26T16:57:22Z</dcterms:modified>
</cp:coreProperties>
</file>