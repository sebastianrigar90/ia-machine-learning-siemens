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8" r:id="rId11"/>
    <p:sldId id="396" r:id="rId12"/>
    <p:sldId id="397" r:id="rId13"/>
    <p:sldId id="399" r:id="rId14"/>
    <p:sldId id="368" r:id="rId15"/>
    <p:sldId id="276" r:id="rId16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854" y="8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94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6000">
              <a:latin typeface="+mj-l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2120273" y="1558715"/>
            <a:ext cx="15863552" cy="61702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Inteligencia Artificial y Machine </a:t>
            </a:r>
            <a:r>
              <a:rPr lang="es-MX" sz="8000" b="1" spc="-340" dirty="0" err="1">
                <a:solidFill>
                  <a:srgbClr val="FFFFFF"/>
                </a:solidFill>
                <a:latin typeface="+mj-lt"/>
                <a:cs typeface="Arial"/>
              </a:rPr>
              <a:t>Learning</a:t>
            </a:r>
            <a:r>
              <a:rPr lang="es-MX" sz="8000" b="1" spc="-340" dirty="0">
                <a:solidFill>
                  <a:srgbClr val="FFFFFF"/>
                </a:solidFill>
                <a:latin typeface="+mj-lt"/>
                <a:cs typeface="Arial"/>
              </a:rPr>
              <a:t> Aplicados a la Manufactura de Transformadores Eléctricos: De los Fundamentos a la Implementación de Valor</a:t>
            </a:r>
            <a:endParaRPr sz="8000" dirty="0">
              <a:latin typeface="+mj-lt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7" y="4664974"/>
            <a:ext cx="17987760" cy="37208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it-IT" sz="12000" b="1" kern="0" spc="-340" dirty="0">
                <a:solidFill>
                  <a:srgbClr val="FFFFFF"/>
                </a:solidFill>
                <a:cs typeface="Arial"/>
              </a:rPr>
              <a:t>Proyecto Machine Learning</a:t>
            </a:r>
          </a:p>
          <a:p>
            <a:pPr marL="12700">
              <a:spcBef>
                <a:spcPts val="115"/>
              </a:spcBef>
            </a:pP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77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4027766" y="1147995"/>
            <a:ext cx="12048565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defRPr sz="2100"/>
            </a:pPr>
            <a:r>
              <a:rPr lang="es-CO" sz="7200" b="1" spc="-600" dirty="0">
                <a:solidFill>
                  <a:srgbClr val="1F3D6F"/>
                </a:solidFill>
                <a:cs typeface="Arial"/>
              </a:rPr>
              <a:t>Proyecto Machine </a:t>
            </a:r>
            <a:r>
              <a:rPr lang="es-CO" sz="7200" b="1" spc="-600" dirty="0" err="1">
                <a:solidFill>
                  <a:srgbClr val="1F3D6F"/>
                </a:solidFill>
                <a:cs typeface="Arial"/>
              </a:rPr>
              <a:t>Learning</a:t>
            </a:r>
            <a:r>
              <a:rPr lang="es-CO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s-CO" sz="7200" b="1" spc="-600" dirty="0" err="1">
                <a:solidFill>
                  <a:srgbClr val="1F3D6F"/>
                </a:solidFill>
                <a:cs typeface="Arial"/>
              </a:rPr>
              <a:t>End-to-End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D5C00-22EB-BD73-DE01-557C2CE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9" y="2675285"/>
            <a:ext cx="109592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400" b="1" dirty="0"/>
              <a:t>De los datos al modelo en producción</a:t>
            </a:r>
          </a:p>
          <a:p>
            <a:r>
              <a:rPr lang="es-MX" sz="2400" b="1" dirty="0"/>
              <a:t>Objetivo:</a:t>
            </a:r>
            <a:r>
              <a:rPr lang="es-MX" sz="2400" dirty="0"/>
              <a:t> construir un flujo completo de Machine </a:t>
            </a:r>
            <a:r>
              <a:rPr lang="es-MX" sz="2400" dirty="0" err="1"/>
              <a:t>Learning</a:t>
            </a:r>
            <a:r>
              <a:rPr lang="es-MX" sz="2400" dirty="0"/>
              <a:t> que permita pasar de datos históricos a predicciones consumibles por una aplicación o </a:t>
            </a:r>
            <a:r>
              <a:rPr lang="es-MX" sz="2400" dirty="0" err="1"/>
              <a:t>dashboard</a:t>
            </a:r>
            <a:r>
              <a:rPr lang="es-MX" sz="2400" dirty="0"/>
              <a:t>, con monitoreo en producción.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6D768F-EFE2-149F-5E64-1C54C5FA0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420924"/>
            <a:ext cx="1728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Estructura propuesta de notebooks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CF0174-7FE9-8F9F-CD85-1C3EA6638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9753" y="2569484"/>
            <a:ext cx="4103835" cy="8207670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E2452EF-13CD-BAD8-B9E0-6016DC8AA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19475"/>
              </p:ext>
            </p:extLst>
          </p:nvPr>
        </p:nvGraphicFramePr>
        <p:xfrm>
          <a:off x="1412048" y="5056966"/>
          <a:ext cx="10959246" cy="4572000"/>
        </p:xfrm>
        <a:graphic>
          <a:graphicData uri="http://schemas.openxmlformats.org/drawingml/2006/table">
            <a:tbl>
              <a:tblPr/>
              <a:tblGrid>
                <a:gridCol w="5479623">
                  <a:extLst>
                    <a:ext uri="{9D8B030D-6E8A-4147-A177-3AD203B41FA5}">
                      <a16:colId xmlns:a16="http://schemas.microsoft.com/office/drawing/2014/main" val="3084378108"/>
                    </a:ext>
                  </a:extLst>
                </a:gridCol>
                <a:gridCol w="5479623">
                  <a:extLst>
                    <a:ext uri="{9D8B030D-6E8A-4147-A177-3AD203B41FA5}">
                      <a16:colId xmlns:a16="http://schemas.microsoft.com/office/drawing/2014/main" val="1676199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2400" dirty="0"/>
                        <a:t>Notebook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Propósito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3952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01_data_preparation.ipynb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Carga, limpieza y preparación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0705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400"/>
                        <a:t>02_eda_feature_engineering.ipynb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Análisis y construcción de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7613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03_model_building.ipynb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Entrenamiento y comparación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1369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04_hyperparameter_tuning.ipynb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Optimización de </a:t>
                      </a:r>
                      <a:r>
                        <a:rPr lang="es-CO" sz="2400" dirty="0" err="1"/>
                        <a:t>hiperparámetros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1289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05_model_evaluation.ipynb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Evaluación, errores y generalización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020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06_model_serialization.ipynb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Guardar modelo y artefactos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3791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07_deployment.ipynb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Crear endpoint de inferencia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2392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08_batch_inference.ipynb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/>
                        <a:t>Predicciones masivas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5491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/>
                        <a:t>09_monitoring.ipynb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Monitoreo de modelo y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308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36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Model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Building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: ¿cómo escogemos el mejor modelo?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4662261-C645-63D0-4379-3B75E68C2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52747"/>
              </p:ext>
            </p:extLst>
          </p:nvPr>
        </p:nvGraphicFramePr>
        <p:xfrm>
          <a:off x="1412048" y="3525584"/>
          <a:ext cx="17280000" cy="1828800"/>
        </p:xfrm>
        <a:graphic>
          <a:graphicData uri="http://schemas.openxmlformats.org/drawingml/2006/table">
            <a:tbl>
              <a:tblPr/>
              <a:tblGrid>
                <a:gridCol w="5760000">
                  <a:extLst>
                    <a:ext uri="{9D8B030D-6E8A-4147-A177-3AD203B41FA5}">
                      <a16:colId xmlns:a16="http://schemas.microsoft.com/office/drawing/2014/main" val="142564433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482513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16864138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Característica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Ventaja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0582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Logistic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Regression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Modelo lineal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/>
                        <a:t>Baseline</a:t>
                      </a:r>
                      <a:r>
                        <a:rPr lang="es-CO" sz="1800"/>
                        <a:t>, simple e interpretable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1147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Decision</a:t>
                      </a:r>
                      <a:r>
                        <a:rPr lang="es-CO" sz="1800" b="1" dirty="0"/>
                        <a:t> </a:t>
                      </a:r>
                      <a:r>
                        <a:rPr lang="es-CO" sz="1800" b="1" dirty="0" err="1"/>
                        <a:t>Tree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Reglas de decisión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Captura relaciones no lineales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9396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Random Forest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Ensemble de árboles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Reduce varianza y mejora estabilidad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4835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Gradient Boosting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Árboles secuenciales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/>
                        <a:t>Captura relaciones complejas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18864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18996AB2-5F26-654B-EA5D-248BADA3B020}"/>
              </a:ext>
            </a:extLst>
          </p:cNvPr>
          <p:cNvSpPr txBox="1"/>
          <p:nvPr/>
        </p:nvSpPr>
        <p:spPr>
          <a:xfrm>
            <a:off x="1412048" y="2770795"/>
            <a:ext cx="172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Comparación de modelos</a:t>
            </a:r>
          </a:p>
          <a:p>
            <a:r>
              <a:rPr lang="es-MX" b="1" dirty="0"/>
              <a:t>Modelos evaluados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9120C0-0A6A-DC7E-30B2-CDE3A7A060FD}"/>
              </a:ext>
            </a:extLst>
          </p:cNvPr>
          <p:cNvSpPr txBox="1"/>
          <p:nvPr/>
        </p:nvSpPr>
        <p:spPr>
          <a:xfrm>
            <a:off x="1412048" y="5954967"/>
            <a:ext cx="172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/>
              <a:t>¿Cómo elegimos el mejor?</a:t>
            </a:r>
          </a:p>
          <a:p>
            <a:r>
              <a:rPr lang="es-MX" dirty="0"/>
              <a:t>Evaluamos cada modelo mediante </a:t>
            </a:r>
            <a:r>
              <a:rPr lang="es-MX" b="1" dirty="0"/>
              <a:t>Cross </a:t>
            </a:r>
            <a:r>
              <a:rPr lang="es-MX" b="1" dirty="0" err="1"/>
              <a:t>Validation</a:t>
            </a:r>
            <a:r>
              <a:rPr lang="es-MX" dirty="0"/>
              <a:t> y posteriormente sobre el </a:t>
            </a:r>
            <a:r>
              <a:rPr lang="es-MX" b="1" dirty="0"/>
              <a:t>Test Set</a:t>
            </a:r>
            <a:r>
              <a:rPr lang="es-MX" dirty="0"/>
              <a:t>.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3EBB94B8-7DD5-F8C5-4F16-ACC3D050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808428"/>
              </p:ext>
            </p:extLst>
          </p:nvPr>
        </p:nvGraphicFramePr>
        <p:xfrm>
          <a:off x="1412048" y="6903482"/>
          <a:ext cx="17280000" cy="2560320"/>
        </p:xfrm>
        <a:graphic>
          <a:graphicData uri="http://schemas.openxmlformats.org/drawingml/2006/table">
            <a:tbl>
              <a:tblPr/>
              <a:tblGrid>
                <a:gridCol w="8640000">
                  <a:extLst>
                    <a:ext uri="{9D8B030D-6E8A-4147-A177-3AD203B41FA5}">
                      <a16:colId xmlns:a16="http://schemas.microsoft.com/office/drawing/2014/main" val="4097787448"/>
                    </a:ext>
                  </a:extLst>
                </a:gridCol>
                <a:gridCol w="8640000">
                  <a:extLst>
                    <a:ext uri="{9D8B030D-6E8A-4147-A177-3AD203B41FA5}">
                      <a16:colId xmlns:a16="http://schemas.microsoft.com/office/drawing/2014/main" val="2482523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1800"/>
                        <a:t>Métrica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Evalúa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595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Accuracy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/>
                        <a:t>Proporción de predicciones correctas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5501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 dirty="0" err="1"/>
                        <a:t>Precision</a:t>
                      </a:r>
                      <a:endParaRPr lang="es-CO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Qué tan confiables son los positivos predichos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084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Recall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Qué proporción de positivos logramos detectar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2234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F1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Balance entre Precision y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298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F1 Macro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F1 promedio dando igual peso a cada clase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386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1800" b="1"/>
                        <a:t>ROC-AUC</a:t>
                      </a:r>
                      <a:endParaRPr lang="es-CO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Capacidad para separar las clases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234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94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Model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Building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: ¿cómo escogemos el mejor modelo?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37FC77-95B0-2115-D199-2E1EEFCD1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62" y="3946515"/>
            <a:ext cx="77857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Criterio de decisión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buscamos simplemente el mayor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Accuracy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Seleccionamos el modelo que presente: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Buen desempeño + estabilidad en Cross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buena generalización en Test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Logistic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Regression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establece el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baseline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Los 	modelos más complejos deben demostrar que 	realmente aportan una mejora.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97990D-566D-C783-6002-0E0DCE87B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582" y="2710927"/>
            <a:ext cx="5988279" cy="70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1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2227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Cross </a:t>
            </a: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Validation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: ¿cómo sabemos si el modelo realmente aprende?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1ADFEE-EAAE-3CA2-B6F4-609E5125B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4949641"/>
            <a:ext cx="9345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problema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Una única división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/ Test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puede ser engañosa.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 cambiamos qué datos quedan en entrenamiento y cuáles en validación, el resultado puede cambiar significativamente.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Validation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reduce esta dependencia de una única partición.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¿Cómo funciona?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Stratified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K-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Fold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dividimos los datos de entrenamiento en K grupos manteniendo aproximadamente la misma proporción de clases.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4CA4F0-D864-C7F6-CADD-6DDE99798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325" y="3851236"/>
            <a:ext cx="8229209" cy="54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2227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Cross </a:t>
            </a:r>
            <a:r>
              <a:rPr lang="es-MX" sz="7200" b="1" spc="-600" dirty="0" err="1">
                <a:solidFill>
                  <a:srgbClr val="1F3D6F"/>
                </a:solidFill>
                <a:cs typeface="Arial"/>
              </a:rPr>
              <a:t>Validation</a:t>
            </a: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: ¿cómo sabemos si el modelo realmente aprende?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6C42D8-823E-A9B6-86EC-C33EFA21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270" y="4912394"/>
            <a:ext cx="104751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cada iteración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 − 1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folds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entrenamiento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fold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validación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proceso se repite hasta que 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cada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fold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haya sido utilizado como validación</a:t>
            </a: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¿Qué obtenemos?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obtenemos solamente un resultado: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Obtenemos una distribución del desempeño del modelo.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Por ejemplo: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D4874B-028B-A38B-E753-EE31EA31515A}"/>
              </a:ext>
            </a:extLst>
          </p:cNvPr>
          <p:cNvSpPr txBox="1"/>
          <p:nvPr/>
        </p:nvSpPr>
        <p:spPr>
          <a:xfrm>
            <a:off x="14221610" y="5004727"/>
            <a:ext cx="17077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F1 Macro</a:t>
            </a:r>
          </a:p>
          <a:p>
            <a:endParaRPr lang="es-CO" dirty="0"/>
          </a:p>
          <a:p>
            <a:r>
              <a:rPr lang="es-CO" dirty="0" err="1"/>
              <a:t>Fold</a:t>
            </a:r>
            <a:r>
              <a:rPr lang="es-CO" dirty="0"/>
              <a:t> 1 → 0.78</a:t>
            </a:r>
          </a:p>
          <a:p>
            <a:r>
              <a:rPr lang="es-CO" dirty="0" err="1"/>
              <a:t>Fold</a:t>
            </a:r>
            <a:r>
              <a:rPr lang="es-CO" dirty="0"/>
              <a:t> 2 → 0.81</a:t>
            </a:r>
          </a:p>
          <a:p>
            <a:r>
              <a:rPr lang="es-CO" dirty="0" err="1"/>
              <a:t>Fold</a:t>
            </a:r>
            <a:r>
              <a:rPr lang="es-CO" dirty="0"/>
              <a:t> 3 → 0.79</a:t>
            </a:r>
          </a:p>
          <a:p>
            <a:r>
              <a:rPr lang="es-CO" dirty="0" err="1"/>
              <a:t>Fold</a:t>
            </a:r>
            <a:r>
              <a:rPr lang="es-CO" dirty="0"/>
              <a:t> 4 → 0.80</a:t>
            </a:r>
          </a:p>
          <a:p>
            <a:r>
              <a:rPr lang="es-CO" dirty="0" err="1"/>
              <a:t>Fold</a:t>
            </a:r>
            <a:r>
              <a:rPr lang="es-CO" dirty="0"/>
              <a:t> 5 → 0.77</a:t>
            </a:r>
          </a:p>
          <a:p>
            <a:endParaRPr lang="es-CO" dirty="0"/>
          </a:p>
          <a:p>
            <a:r>
              <a:rPr lang="es-CO" dirty="0"/>
              <a:t>Media → 0.79</a:t>
            </a:r>
          </a:p>
          <a:p>
            <a:r>
              <a:rPr lang="es-CO" dirty="0" err="1"/>
              <a:t>Std</a:t>
            </a:r>
            <a:r>
              <a:rPr lang="es-CO" dirty="0"/>
              <a:t>   → 0.02</a:t>
            </a:r>
          </a:p>
        </p:txBody>
      </p:sp>
    </p:spTree>
    <p:extLst>
      <p:ext uri="{BB962C8B-B14F-4D97-AF65-F5344CB8AC3E}">
        <p14:creationId xmlns:p14="http://schemas.microsoft.com/office/powerpoint/2010/main" val="230006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Cross Validation + Train/Test: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detectando</a:t>
            </a: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sobreajuste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5A9092-2F90-57B1-A2B7-3EB1FC46F42A}"/>
              </a:ext>
            </a:extLst>
          </p:cNvPr>
          <p:cNvSpPr txBox="1"/>
          <p:nvPr/>
        </p:nvSpPr>
        <p:spPr>
          <a:xfrm>
            <a:off x="1412048" y="3960490"/>
            <a:ext cx="1728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Cross </a:t>
            </a:r>
            <a:r>
              <a:rPr lang="es-MX" sz="2400" b="1" dirty="0" err="1"/>
              <a:t>Validation</a:t>
            </a:r>
            <a:r>
              <a:rPr lang="es-MX" sz="2400" b="1" dirty="0"/>
              <a:t> no elimina el sobreajuste</a:t>
            </a:r>
          </a:p>
          <a:p>
            <a:r>
              <a:rPr lang="es-MX" sz="2400" dirty="0"/>
              <a:t>Lo </a:t>
            </a:r>
            <a:r>
              <a:rPr lang="es-MX" sz="2400" b="1" dirty="0"/>
              <a:t>detecta</a:t>
            </a:r>
            <a:r>
              <a:rPr lang="es-MX" sz="2400" dirty="0"/>
              <a:t> al comparar cómo se comporta el modelo sobre diferentes datos.</a:t>
            </a:r>
          </a:p>
          <a:p>
            <a:r>
              <a:rPr lang="es-MX" sz="2400" dirty="0"/>
              <a:t>La pregunta clave es:</a:t>
            </a:r>
          </a:p>
          <a:p>
            <a:r>
              <a:rPr lang="es-MX" sz="2400" dirty="0"/>
              <a:t>		¿El modelo funciona solamente con los datos que conoce o también generaliza a datos que nunca ha visto?</a:t>
            </a:r>
            <a:endParaRPr lang="es-CO" sz="2400" dirty="0"/>
          </a:p>
          <a:p>
            <a:endParaRPr lang="es-MX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E597FF1-3902-10CA-B6F0-421FD0A7B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36384"/>
              </p:ext>
            </p:extLst>
          </p:nvPr>
        </p:nvGraphicFramePr>
        <p:xfrm>
          <a:off x="1412048" y="6236513"/>
          <a:ext cx="17280000" cy="1828800"/>
        </p:xfrm>
        <a:graphic>
          <a:graphicData uri="http://schemas.openxmlformats.org/drawingml/2006/table">
            <a:tbl>
              <a:tblPr/>
              <a:tblGrid>
                <a:gridCol w="8640000">
                  <a:extLst>
                    <a:ext uri="{9D8B030D-6E8A-4147-A177-3AD203B41FA5}">
                      <a16:colId xmlns:a16="http://schemas.microsoft.com/office/drawing/2014/main" val="4042294546"/>
                    </a:ext>
                  </a:extLst>
                </a:gridCol>
                <a:gridCol w="8640000">
                  <a:extLst>
                    <a:ext uri="{9D8B030D-6E8A-4147-A177-3AD203B41FA5}">
                      <a16:colId xmlns:a16="http://schemas.microsoft.com/office/drawing/2014/main" val="27028939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s-CO" sz="2400" dirty="0"/>
                        <a:t>Evaluación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¿Qué nos dice?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9957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 b="1" dirty="0"/>
                        <a:t>Train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Qué tan bien aprende el modelo los datos de entrenamiento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3074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 b="1" dirty="0"/>
                        <a:t>Cross </a:t>
                      </a:r>
                      <a:r>
                        <a:rPr lang="es-CO" sz="2400" b="1" dirty="0" err="1"/>
                        <a:t>Validation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Qué tan estable es su desempeño sobre diferentes particiones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977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CO" sz="2400" b="1" dirty="0"/>
                        <a:t>Test</a:t>
                      </a:r>
                      <a:endParaRPr lang="es-CO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Qué tan bien generaliza ante datos completamente nuevos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266951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A7E27E0C-C922-A3CF-69F6-BCB376565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048" y="5876753"/>
            <a:ext cx="1728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Analizamos tres niveles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1159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Cross Validation + Train/Test: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detectando</a:t>
            </a: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sobreajuste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992828-BEEA-2BF1-2357-73D084F2DFFC}"/>
              </a:ext>
            </a:extLst>
          </p:cNvPr>
          <p:cNvSpPr txBox="1"/>
          <p:nvPr/>
        </p:nvSpPr>
        <p:spPr>
          <a:xfrm>
            <a:off x="5887229" y="3495010"/>
            <a:ext cx="2837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/>
              <a:t>Señal de sobreajuste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DBBC977-2BA7-FFD5-B4EC-132EE93F2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016" y="2470653"/>
            <a:ext cx="5523081" cy="368205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228DC8-CFA5-8C40-D941-C8C25B7619DC}"/>
              </a:ext>
            </a:extLst>
          </p:cNvPr>
          <p:cNvSpPr txBox="1"/>
          <p:nvPr/>
        </p:nvSpPr>
        <p:spPr>
          <a:xfrm>
            <a:off x="4214362" y="4212278"/>
            <a:ext cx="6182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modelo </a:t>
            </a:r>
            <a:r>
              <a:rPr lang="es-MX" b="1" dirty="0"/>
              <a:t>memoriza demasiado el entrenamiento</a:t>
            </a:r>
            <a:r>
              <a:rPr lang="es-MX" dirty="0"/>
              <a:t>, pero pierde desempeño cuando recibe datos que no utilizó para aprender.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836F24-61B6-5C63-5679-E67C64216E57}"/>
              </a:ext>
            </a:extLst>
          </p:cNvPr>
          <p:cNvSpPr txBox="1"/>
          <p:nvPr/>
        </p:nvSpPr>
        <p:spPr>
          <a:xfrm>
            <a:off x="5994699" y="7557878"/>
            <a:ext cx="2729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>
              <a:defRPr sz="2400" b="1"/>
            </a:lvl1pPr>
          </a:lstStyle>
          <a:p>
            <a:pPr algn="ctr"/>
            <a:r>
              <a:rPr lang="es-CO" dirty="0"/>
              <a:t>Modelo saludable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9256DF2-583C-21E0-4DF8-D52697F84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9016" y="6849421"/>
            <a:ext cx="5523081" cy="368205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D7225A1-C6EB-E0DE-5612-498309045365}"/>
              </a:ext>
            </a:extLst>
          </p:cNvPr>
          <p:cNvSpPr txBox="1"/>
          <p:nvPr/>
        </p:nvSpPr>
        <p:spPr>
          <a:xfrm>
            <a:off x="4214363" y="8163479"/>
            <a:ext cx="68229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Nuestro criterio</a:t>
            </a:r>
          </a:p>
          <a:p>
            <a:r>
              <a:rPr lang="es-MX" b="1" dirty="0"/>
              <a:t>No buscamos el mayor resultado en Train.</a:t>
            </a:r>
            <a:endParaRPr lang="es-MX" dirty="0"/>
          </a:p>
          <a:p>
            <a:r>
              <a:rPr lang="es-MX" dirty="0"/>
              <a:t>Buscamos:</a:t>
            </a:r>
          </a:p>
          <a:p>
            <a:r>
              <a:rPr lang="es-MX" b="1" dirty="0"/>
              <a:t>Buen desempeño + estabilidad en CV + pequeña brecha Train–CV/Test</a:t>
            </a:r>
            <a:endParaRPr lang="es-MX" dirty="0"/>
          </a:p>
          <a:p>
            <a:r>
              <a:rPr lang="es-MX" dirty="0"/>
              <a:t>Y finalmente utilizamos el </a:t>
            </a:r>
            <a:r>
              <a:rPr lang="es-MX" b="1" dirty="0"/>
              <a:t>Test Set una sola vez como evaluación final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1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Cross Validation + Train/Test: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detectando</a:t>
            </a: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sobreajuste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73B88B-BA87-83C2-68D9-DEEF4FC8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58" y="2398955"/>
            <a:ext cx="13518688" cy="20634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7004D0-144E-EA04-4D5C-82566F0DF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36" y="4799717"/>
            <a:ext cx="9043434" cy="53949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4769CA3-971E-F8F9-E1A0-89F5783C0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879" y="5217058"/>
            <a:ext cx="6934663" cy="379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47" y="4664974"/>
            <a:ext cx="17987760" cy="37208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it-IT" sz="12000" b="1" kern="0" spc="-340" dirty="0">
                <a:solidFill>
                  <a:srgbClr val="FFFFFF"/>
                </a:solidFill>
                <a:cs typeface="Arial"/>
              </a:rPr>
              <a:t>Proyecto RAG Local</a:t>
            </a:r>
          </a:p>
          <a:p>
            <a:pPr marL="12700">
              <a:spcBef>
                <a:spcPts val="115"/>
              </a:spcBef>
            </a:pPr>
            <a:endParaRPr lang="es-CO" sz="12000" b="1" kern="0" spc="-34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904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Arquitectura</a:t>
            </a:r>
            <a:r>
              <a:rPr lang="en-US" sz="7200" b="1" spc="-600" dirty="0">
                <a:solidFill>
                  <a:srgbClr val="1F3D6F"/>
                </a:solidFill>
                <a:cs typeface="Arial"/>
              </a:rPr>
              <a:t> </a:t>
            </a:r>
            <a:r>
              <a:rPr lang="en-US" sz="7200" b="1" spc="-600" dirty="0" err="1">
                <a:solidFill>
                  <a:srgbClr val="1F3D6F"/>
                </a:solidFill>
                <a:cs typeface="Arial"/>
              </a:rPr>
              <a:t>funcional</a:t>
            </a:r>
            <a:endParaRPr lang="es-CO" sz="7200" b="1" spc="-600" dirty="0">
              <a:solidFill>
                <a:srgbClr val="1F3D6F"/>
              </a:solidFill>
              <a:cs typeface="Arial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E71B8E1-27AC-C802-9E86-4A34B9703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685" y="2061652"/>
            <a:ext cx="13606725" cy="907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8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1412048" y="942115"/>
            <a:ext cx="17280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defRPr sz="2100"/>
            </a:pPr>
            <a:r>
              <a:rPr lang="es-MX" sz="7200" b="1" spc="-600" dirty="0">
                <a:solidFill>
                  <a:srgbClr val="1F3D6F"/>
                </a:solidFill>
                <a:cs typeface="Arial"/>
              </a:rPr>
              <a:t>Resultado del piloto y siguiente evolución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251F4261-243A-929E-356A-EFBC94EF7B16}"/>
              </a:ext>
            </a:extLst>
          </p:cNvPr>
          <p:cNvSpPr txBox="1"/>
          <p:nvPr/>
        </p:nvSpPr>
        <p:spPr>
          <a:xfrm>
            <a:off x="1412048" y="2743200"/>
            <a:ext cx="1728000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sz="2400" dirty="0" err="1"/>
              <a:t>Resultado</a:t>
            </a:r>
            <a:r>
              <a:rPr sz="2400" dirty="0"/>
              <a:t> </a:t>
            </a:r>
            <a:r>
              <a:rPr sz="2400" dirty="0" err="1"/>
              <a:t>validado</a:t>
            </a:r>
            <a:endParaRPr sz="2400" dirty="0"/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• 3 </a:t>
            </a:r>
            <a:r>
              <a:rPr sz="2000" dirty="0" err="1"/>
              <a:t>documentos</a:t>
            </a:r>
            <a:r>
              <a:rPr sz="2000" dirty="0"/>
              <a:t> de </a:t>
            </a:r>
            <a:r>
              <a:rPr sz="2000" dirty="0" err="1"/>
              <a:t>proveedores</a:t>
            </a:r>
            <a:r>
              <a:rPr sz="2000" dirty="0"/>
              <a:t> </a:t>
            </a:r>
            <a:r>
              <a:rPr sz="2000" dirty="0" err="1"/>
              <a:t>diferentes</a:t>
            </a:r>
            <a:r>
              <a:rPr sz="2000" dirty="0"/>
              <a:t>.</a:t>
            </a:r>
            <a:endParaRPr lang="es-CO" sz="2000" dirty="0"/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• </a:t>
            </a:r>
            <a:r>
              <a:rPr sz="2000" dirty="0" err="1"/>
              <a:t>Estructuras</a:t>
            </a:r>
            <a:r>
              <a:rPr sz="2000" dirty="0"/>
              <a:t> y </a:t>
            </a:r>
            <a:r>
              <a:rPr sz="2000" dirty="0" err="1"/>
              <a:t>etiquetas</a:t>
            </a:r>
            <a:r>
              <a:rPr sz="2000" dirty="0"/>
              <a:t> </a:t>
            </a:r>
            <a:r>
              <a:rPr sz="2000" dirty="0" err="1"/>
              <a:t>distintas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• 5 </a:t>
            </a:r>
            <a:r>
              <a:rPr sz="2000" dirty="0" err="1"/>
              <a:t>atributos</a:t>
            </a:r>
            <a:r>
              <a:rPr sz="2000" dirty="0"/>
              <a:t> </a:t>
            </a:r>
            <a:r>
              <a:rPr sz="2000" dirty="0" err="1"/>
              <a:t>comunes</a:t>
            </a:r>
            <a:r>
              <a:rPr sz="2000" dirty="0"/>
              <a:t> </a:t>
            </a:r>
            <a:r>
              <a:rPr sz="2000" dirty="0" err="1"/>
              <a:t>identificados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• </a:t>
            </a:r>
            <a:r>
              <a:rPr sz="2000" dirty="0" err="1"/>
              <a:t>Extracción</a:t>
            </a:r>
            <a:r>
              <a:rPr sz="2000" dirty="0"/>
              <a:t> </a:t>
            </a:r>
            <a:r>
              <a:rPr sz="2000" dirty="0" err="1"/>
              <a:t>correcta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3 </a:t>
            </a:r>
            <a:r>
              <a:rPr sz="2000" dirty="0" err="1"/>
              <a:t>documentos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500"/>
            </a:pPr>
            <a:r>
              <a:rPr sz="2000" dirty="0"/>
              <a:t>• Salida </a:t>
            </a:r>
            <a:r>
              <a:rPr sz="2000" dirty="0" err="1"/>
              <a:t>homogénea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formato</a:t>
            </a:r>
            <a:r>
              <a:rPr sz="2000" dirty="0"/>
              <a:t> JSON + </a:t>
            </a:r>
            <a:r>
              <a:rPr sz="2000" dirty="0" err="1"/>
              <a:t>tabla</a:t>
            </a:r>
            <a:r>
              <a:rPr sz="2000" dirty="0"/>
              <a:t>.</a:t>
            </a:r>
          </a:p>
          <a:p>
            <a:br>
              <a:rPr sz="2000" dirty="0"/>
            </a:br>
            <a:r>
              <a:rPr sz="2000" dirty="0"/>
              <a:t>Campos </a:t>
            </a:r>
            <a:r>
              <a:rPr sz="2000" dirty="0" err="1"/>
              <a:t>estándar</a:t>
            </a:r>
            <a:endParaRPr sz="2000" dirty="0"/>
          </a:p>
          <a:p>
            <a:pPr>
              <a:defRPr sz="1400"/>
            </a:pPr>
            <a:r>
              <a:rPr sz="2000" dirty="0" err="1"/>
              <a:t>Fabricante</a:t>
            </a:r>
            <a:r>
              <a:rPr sz="2000" dirty="0"/>
              <a:t>  |  </a:t>
            </a:r>
            <a:r>
              <a:rPr sz="2000" dirty="0" err="1"/>
              <a:t>Modelo</a:t>
            </a:r>
            <a:r>
              <a:rPr sz="2000" dirty="0"/>
              <a:t>  |  </a:t>
            </a:r>
            <a:r>
              <a:rPr sz="2000" dirty="0" err="1"/>
              <a:t>Potencia</a:t>
            </a:r>
            <a:r>
              <a:rPr sz="2000" dirty="0"/>
              <a:t>  |  </a:t>
            </a:r>
            <a:r>
              <a:rPr sz="2000" dirty="0" err="1"/>
              <a:t>Tensión</a:t>
            </a:r>
            <a:r>
              <a:rPr sz="2000" dirty="0"/>
              <a:t>  |  </a:t>
            </a:r>
            <a:r>
              <a:rPr sz="2000" dirty="0" err="1"/>
              <a:t>Año</a:t>
            </a:r>
            <a:r>
              <a:rPr sz="2000" dirty="0"/>
              <a:t> de </a:t>
            </a:r>
            <a:r>
              <a:rPr sz="2000" dirty="0" err="1"/>
              <a:t>fabricación</a:t>
            </a:r>
            <a:endParaRPr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B69086-2EA8-B339-8618-978E41964ECF}"/>
              </a:ext>
            </a:extLst>
          </p:cNvPr>
          <p:cNvSpPr txBox="1"/>
          <p:nvPr/>
        </p:nvSpPr>
        <p:spPr>
          <a:xfrm>
            <a:off x="1412048" y="6468274"/>
            <a:ext cx="17280000" cy="3543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Siguiente evolución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500"/>
            </a:pPr>
            <a:r>
              <a:rPr lang="es-MX" sz="2000" b="1" dirty="0"/>
              <a:t>Retroalimentación del usuario: </a:t>
            </a:r>
            <a:r>
              <a:rPr lang="es-MX" sz="2000" dirty="0"/>
              <a:t>permitir validar y corregir los campos extraídos. </a:t>
            </a:r>
          </a:p>
          <a:p>
            <a:pPr>
              <a:spcAft>
                <a:spcPts val="800"/>
              </a:spcAft>
              <a:buFont typeface="Arial" panose="020B0604020202020204" pitchFamily="34" charset="0"/>
              <a:buChar char="•"/>
              <a:defRPr sz="1500"/>
            </a:pPr>
            <a:r>
              <a:rPr lang="es-MX" sz="2000" b="1" dirty="0"/>
              <a:t>Corrección asistida:</a:t>
            </a:r>
            <a:r>
              <a:rPr lang="es-MX" sz="2000" dirty="0"/>
              <a:t> cuando el RAG se equivoque, registrar la respuesta correcta proporcionada por el usuario.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Mejora del RAG:</a:t>
            </a:r>
            <a:r>
              <a:rPr lang="es-MX" sz="2000" dirty="0"/>
              <a:t> utilizar las correcciones para mejorar </a:t>
            </a:r>
            <a:r>
              <a:rPr lang="es-MX" sz="2000" dirty="0" err="1"/>
              <a:t>retrieval</a:t>
            </a:r>
            <a:r>
              <a:rPr lang="es-MX" sz="2000" dirty="0"/>
              <a:t>, </a:t>
            </a:r>
            <a:r>
              <a:rPr lang="es-MX" sz="2000" dirty="0" err="1"/>
              <a:t>prompts</a:t>
            </a:r>
            <a:r>
              <a:rPr lang="es-MX" sz="2000" dirty="0"/>
              <a:t> y reglas de extracción.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Validación automática:</a:t>
            </a:r>
            <a:r>
              <a:rPr lang="es-MX" sz="2000" dirty="0"/>
              <a:t> detectar campos faltantes, inconsistentes o con baja confianza.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Trazabilidad:</a:t>
            </a:r>
            <a:r>
              <a:rPr lang="es-MX" sz="2000" dirty="0"/>
              <a:t> conservar documento, página, fragmento recuperado, respuesta generada y corrección realizada.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Mayor robustez documental:</a:t>
            </a:r>
            <a:r>
              <a:rPr lang="es-MX" sz="2000" dirty="0"/>
              <a:t> soportar diferentes estructuras, tablas, imágenes y </a:t>
            </a:r>
            <a:r>
              <a:rPr lang="es-MX" sz="2000" dirty="0" err="1"/>
              <a:t>PDFs</a:t>
            </a:r>
            <a:r>
              <a:rPr lang="es-MX" sz="2000" dirty="0"/>
              <a:t> escaneados.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Escalabilidad:</a:t>
            </a:r>
            <a:r>
              <a:rPr lang="es-MX" sz="2000" dirty="0"/>
              <a:t> preparar el flujo para procesar múltiples proveedores y documentos nuevos.</a:t>
            </a:r>
          </a:p>
        </p:txBody>
      </p:sp>
    </p:spTree>
    <p:extLst>
      <p:ext uri="{BB962C8B-B14F-4D97-AF65-F5344CB8AC3E}">
        <p14:creationId xmlns:p14="http://schemas.microsoft.com/office/powerpoint/2010/main" val="252381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718DB72D-0685-3887-3F45-87F4A4EC5BC8}"/>
              </a:ext>
            </a:extLst>
          </p:cNvPr>
          <p:cNvSpPr txBox="1"/>
          <p:nvPr/>
        </p:nvSpPr>
        <p:spPr>
          <a:xfrm>
            <a:off x="2569860" y="4942076"/>
            <a:ext cx="3701846" cy="1425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ts val="11625"/>
              </a:lnSpc>
              <a:spcBef>
                <a:spcPts val="90"/>
              </a:spcBef>
            </a:pPr>
            <a:r>
              <a:rPr lang="es-MX" sz="8800" b="1" spc="-600" dirty="0">
                <a:solidFill>
                  <a:srgbClr val="1F3D6F"/>
                </a:solidFill>
                <a:latin typeface="+mj-lt"/>
                <a:cs typeface="Arial"/>
              </a:rPr>
              <a:t>Gracias!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04CAC8-1AF8-0C82-42EE-4154F9451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045" y="1383328"/>
            <a:ext cx="8857952" cy="88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854</Words>
  <Application>Microsoft Office PowerPoint</Application>
  <PresentationFormat>Personalizado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Inteligencia Artificial y Machine Learning Aplicados a la Manufactura de Transformadores Eléctricos: De los Fundamentos a la Implementación de Valor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Sebastian Rivera García</dc:creator>
  <cp:lastModifiedBy>Edwin Julián Acuña Gómez</cp:lastModifiedBy>
  <cp:revision>83</cp:revision>
  <dcterms:modified xsi:type="dcterms:W3CDTF">2026-08-31T05:36:15Z</dcterms:modified>
</cp:coreProperties>
</file>